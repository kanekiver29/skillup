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0" r:id="rId3"/>
    <p:sldId id="257" r:id="rId4"/>
    <p:sldId id="268" r:id="rId5"/>
    <p:sldId id="260" r:id="rId6"/>
    <p:sldId id="262" r:id="rId7"/>
    <p:sldId id="298" r:id="rId8"/>
    <p:sldId id="270" r:id="rId9"/>
    <p:sldId id="292" r:id="rId10"/>
    <p:sldId id="264" r:id="rId11"/>
    <p:sldId id="271" r:id="rId12"/>
    <p:sldId id="272" r:id="rId13"/>
    <p:sldId id="273" r:id="rId14"/>
    <p:sldId id="274" r:id="rId15"/>
    <p:sldId id="275" r:id="rId16"/>
    <p:sldId id="266" r:id="rId17"/>
    <p:sldId id="291" r:id="rId18"/>
    <p:sldId id="295" r:id="rId19"/>
    <p:sldId id="297" r:id="rId20"/>
    <p:sldId id="293" r:id="rId21"/>
    <p:sldId id="267"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3"/>
    <p:restoredTop sz="94650"/>
  </p:normalViewPr>
  <p:slideViewPr>
    <p:cSldViewPr snapToGrid="0">
      <p:cViewPr varScale="1">
        <p:scale>
          <a:sx n="70" d="100"/>
          <a:sy n="70" d="100"/>
        </p:scale>
        <p:origin x="5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8" name="Group 17"/>
          <p:cNvGrpSpPr/>
          <p:nvPr userDrawn="1"/>
        </p:nvGrpSpPr>
        <p:grpSpPr>
          <a:xfrm>
            <a:off x="-152400" y="333"/>
            <a:ext cx="12516678" cy="7451611"/>
            <a:chOff x="-152400" y="333"/>
            <a:chExt cx="12516678" cy="7451611"/>
          </a:xfrm>
        </p:grpSpPr>
        <p:sp>
          <p:nvSpPr>
            <p:cNvPr id="19" name="Rectangle 18"/>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p:cNvPicPr>
              <a:picLocks noChangeAspect="1"/>
            </p:cNvPicPr>
            <p:nvPr userDrawn="1"/>
          </p:nvPicPr>
          <p:blipFill>
            <a:blip r:embed="rId3"/>
            <a:stretch>
              <a:fillRect/>
            </a:stretch>
          </p:blipFill>
          <p:spPr>
            <a:xfrm>
              <a:off x="4267200" y="6098192"/>
              <a:ext cx="7772400" cy="758116"/>
            </a:xfrm>
            <a:prstGeom prst="rect">
              <a:avLst/>
            </a:prstGeom>
          </p:spPr>
        </p:pic>
        <p:sp>
          <p:nvSpPr>
            <p:cNvPr id="24" name="Rectangle 2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5" name="Rectangle 2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26" name="Rectangle 2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7" name="Rectangle 2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8" name="Rectangle 2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sp>
        <p:nvSpPr>
          <p:cNvPr id="8" name="Rectangle 2"/>
          <p:cNvSpPr>
            <a:spLocks noChangeArrowheads="1"/>
          </p:cNvSpPr>
          <p:nvPr userDrawn="1"/>
        </p:nvSpPr>
        <p:spPr bwMode="auto">
          <a:xfrm flipV="1">
            <a:off x="9781792" y="-6977589"/>
            <a:ext cx="1344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0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9" name="Group 8"/>
          <p:cNvGrpSpPr/>
          <p:nvPr userDrawn="1"/>
        </p:nvGrpSpPr>
        <p:grpSpPr>
          <a:xfrm>
            <a:off x="-152400" y="333"/>
            <a:ext cx="12516678" cy="7451611"/>
            <a:chOff x="-152400" y="333"/>
            <a:chExt cx="12516678" cy="7451611"/>
          </a:xfrm>
        </p:grpSpPr>
        <p:sp>
          <p:nvSpPr>
            <p:cNvPr id="26" name="Rectangle 2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1" name="Rectangle 20"/>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2" name="Rectangle 21"/>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3E42220-01F8-134B-8323-290C1B80F35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009AD5-DD57-E94F-8845-9F89F40609C7}" type="slidenum">
              <a:rPr lang="en-US" smtClean="0"/>
            </a:fld>
            <a:endParaRPr lang="en-US"/>
          </a:p>
        </p:txBody>
      </p:sp>
      <p:grpSp>
        <p:nvGrpSpPr>
          <p:cNvPr id="19" name="Group 18"/>
          <p:cNvGrpSpPr/>
          <p:nvPr userDrawn="1"/>
        </p:nvGrpSpPr>
        <p:grpSpPr>
          <a:xfrm>
            <a:off x="-152400" y="333"/>
            <a:ext cx="12516678" cy="7451611"/>
            <a:chOff x="-152400" y="333"/>
            <a:chExt cx="12516678" cy="7451611"/>
          </a:xfrm>
        </p:grpSpPr>
        <p:sp>
          <p:nvSpPr>
            <p:cNvPr id="20" name="Rectangle 19"/>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3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userDrawn="1"/>
          </p:nvPicPr>
          <p:blipFill>
            <a:blip r:embed="rId3"/>
            <a:stretch>
              <a:fillRect/>
            </a:stretch>
          </p:blipFill>
          <p:spPr>
            <a:xfrm>
              <a:off x="4267200" y="6098192"/>
              <a:ext cx="7772400" cy="758116"/>
            </a:xfrm>
            <a:prstGeom prst="rect">
              <a:avLst/>
            </a:prstGeom>
          </p:spPr>
        </p:pic>
        <p:sp>
          <p:nvSpPr>
            <p:cNvPr id="34" name="Rectangle 3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5" name="Rectangle 3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7" name="Rectangle 3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8" name="Rectangle 3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03E42220-01F8-134B-8323-290C1B80F35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009AD5-DD57-E94F-8845-9F89F40609C7}" type="slidenum">
              <a:rPr lang="en-US" smtClean="0"/>
            </a:fld>
            <a:endParaRPr lang="en-US"/>
          </a:p>
        </p:txBody>
      </p:sp>
      <p:grpSp>
        <p:nvGrpSpPr>
          <p:cNvPr id="15" name="Group 14"/>
          <p:cNvGrpSpPr/>
          <p:nvPr userDrawn="1"/>
        </p:nvGrpSpPr>
        <p:grpSpPr>
          <a:xfrm>
            <a:off x="-152400" y="333"/>
            <a:ext cx="12516678" cy="7451611"/>
            <a:chOff x="-152400" y="333"/>
            <a:chExt cx="12516678" cy="7451611"/>
          </a:xfrm>
        </p:grpSpPr>
        <p:sp>
          <p:nvSpPr>
            <p:cNvPr id="16" name="Rectangle 1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7"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p:cNvPicPr>
              <a:picLocks noChangeAspect="1"/>
            </p:cNvPicPr>
            <p:nvPr userDrawn="1"/>
          </p:nvPicPr>
          <p:blipFill>
            <a:blip r:embed="rId3"/>
            <a:stretch>
              <a:fillRect/>
            </a:stretch>
          </p:blipFill>
          <p:spPr>
            <a:xfrm>
              <a:off x="4267200" y="6098192"/>
              <a:ext cx="7772400" cy="758116"/>
            </a:xfrm>
            <a:prstGeom prst="rect">
              <a:avLst/>
            </a:prstGeom>
          </p:spPr>
        </p:pic>
        <p:sp>
          <p:nvSpPr>
            <p:cNvPr id="30" name="Rectangle 29"/>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1" name="Rectangle 30"/>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42220-01F8-134B-8323-290C1B80F35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009AD5-DD57-E94F-8845-9F89F40609C7}" type="slidenum">
              <a:rPr lang="en-US" smtClean="0"/>
            </a:fld>
            <a:endParaRPr lang="en-US"/>
          </a:p>
        </p:txBody>
      </p:sp>
      <p:grpSp>
        <p:nvGrpSpPr>
          <p:cNvPr id="14" name="Group 13"/>
          <p:cNvGrpSpPr/>
          <p:nvPr userDrawn="1"/>
        </p:nvGrpSpPr>
        <p:grpSpPr>
          <a:xfrm>
            <a:off x="-152400" y="333"/>
            <a:ext cx="12516678" cy="7451611"/>
            <a:chOff x="-152400" y="333"/>
            <a:chExt cx="12516678" cy="7451611"/>
          </a:xfrm>
        </p:grpSpPr>
        <p:sp>
          <p:nvSpPr>
            <p:cNvPr id="15" name="Rectangle 14"/>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6"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userDrawn="1"/>
          </p:nvPicPr>
          <p:blipFill>
            <a:blip r:embed="rId3"/>
            <a:stretch>
              <a:fillRect/>
            </a:stretch>
          </p:blipFill>
          <p:spPr>
            <a:xfrm>
              <a:off x="4267200" y="6098192"/>
              <a:ext cx="7772400" cy="758116"/>
            </a:xfrm>
            <a:prstGeom prst="rect">
              <a:avLst/>
            </a:prstGeom>
          </p:spPr>
        </p:pic>
        <p:sp>
          <p:nvSpPr>
            <p:cNvPr id="29" name="Rectangle 28"/>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0" name="Rectangle 29"/>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1" name="Rectangle 30"/>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E42220-01F8-134B-8323-290C1B80F35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09AD5-DD57-E94F-8845-9F89F40609C7}" type="slidenum">
              <a:rPr lang="en-US" smtClean="0"/>
            </a:fld>
            <a:endParaRPr lang="en-US"/>
          </a:p>
        </p:txBody>
      </p:sp>
      <p:grpSp>
        <p:nvGrpSpPr>
          <p:cNvPr id="7" name="Group 6"/>
          <p:cNvGrpSpPr/>
          <p:nvPr userDrawn="1"/>
        </p:nvGrpSpPr>
        <p:grpSpPr>
          <a:xfrm>
            <a:off x="-152400" y="333"/>
            <a:ext cx="12516678" cy="7451611"/>
            <a:chOff x="-152400" y="333"/>
            <a:chExt cx="12516678" cy="7451611"/>
          </a:xfrm>
        </p:grpSpPr>
        <p:sp>
          <p:nvSpPr>
            <p:cNvPr id="8" name="Rectangle 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 descr="csu logo"/>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10"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12"/>
            <a:stretch>
              <a:fillRect/>
            </a:stretch>
          </p:blipFill>
          <p:spPr>
            <a:xfrm>
              <a:off x="4267200" y="6098192"/>
              <a:ext cx="7772400" cy="758116"/>
            </a:xfrm>
            <a:prstGeom prst="rect">
              <a:avLst/>
            </a:prstGeom>
          </p:spPr>
        </p:pic>
        <p:sp>
          <p:nvSpPr>
            <p:cNvPr id="13" name="Rectangle 12"/>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4" name="Rectangle 13"/>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15" name="Rectangle 14"/>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16" name="Rectangle 15"/>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17" name="Rectangle 16"/>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hyperlink" Target="https://www.adb.org/sites/default/files/publication/396081/adb-brief-084-youth-not-employment.pdf" TargetMode="External"/><Relationship Id="rId2" Type="http://schemas.openxmlformats.org/officeDocument/2006/relationships/hyperlink" Target="https://doi.org/10.16920/jeet/2022/v36i1/22146" TargetMode="External"/><Relationship Id="rId1" Type="http://schemas.openxmlformats.org/officeDocument/2006/relationships/hyperlink" Target="https://doi.org/10.55041/ijsrem432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6095" y="1760220"/>
            <a:ext cx="9144000" cy="1426210"/>
          </a:xfrm>
        </p:spPr>
        <p:txBody>
          <a:bodyPr>
            <a:normAutofit/>
          </a:bodyPr>
          <a:lstStyle/>
          <a:p>
            <a:pPr>
              <a:lnSpc>
                <a:spcPct val="107000"/>
              </a:lnSpc>
              <a:spcAft>
                <a:spcPts val="800"/>
              </a:spcAft>
            </a:pPr>
            <a:r>
              <a:rPr lang="en-PH" sz="3200" b="1" dirty="0">
                <a:effectLst/>
                <a:latin typeface="Tahoma" panose="020B0604030504040204" pitchFamily="34" charset="0"/>
                <a:ea typeface="Times New Roman" panose="02020603050405020304" pitchFamily="18" charset="0"/>
                <a:cs typeface="Times New Roman" panose="02020603050405020304" pitchFamily="18" charset="0"/>
              </a:rPr>
              <a:t>“</a:t>
            </a:r>
            <a:r>
              <a:rPr lang="en-US" sz="3200" b="1" dirty="0" err="1">
                <a:sym typeface="+mn-ea"/>
              </a:rPr>
              <a:t>SkillUp</a:t>
            </a:r>
            <a:r>
              <a:rPr lang="en-US" sz="3200" b="1" dirty="0">
                <a:sym typeface="+mn-ea"/>
              </a:rPr>
              <a:t>: A Personalized Web Learning Portal for Youth Career Development</a:t>
            </a:r>
            <a:r>
              <a:rPr lang="en-PH" sz="3200" b="1" dirty="0">
                <a:effectLst/>
                <a:latin typeface="Tahoma" panose="020B0604030504040204" pitchFamily="34" charset="0"/>
                <a:ea typeface="Times New Roman" panose="02020603050405020304" pitchFamily="18" charset="0"/>
                <a:cs typeface="Times New Roman" panose="02020603050405020304" pitchFamily="18" charset="0"/>
              </a:rPr>
              <a:t>”</a:t>
            </a:r>
            <a:endParaRPr lang="en-US" sz="8800" dirty="0"/>
          </a:p>
        </p:txBody>
      </p:sp>
      <p:sp>
        <p:nvSpPr>
          <p:cNvPr id="3" name="Subtitle 2"/>
          <p:cNvSpPr>
            <a:spLocks noGrp="1"/>
          </p:cNvSpPr>
          <p:nvPr>
            <p:ph type="subTitle" idx="1"/>
          </p:nvPr>
        </p:nvSpPr>
        <p:spPr>
          <a:xfrm>
            <a:off x="1524000" y="4265226"/>
            <a:ext cx="9144000" cy="1655762"/>
          </a:xfrm>
        </p:spPr>
        <p:txBody>
          <a:bodyPr>
            <a:normAutofit/>
          </a:bodyPr>
          <a:lstStyle/>
          <a:p>
            <a:pPr>
              <a:lnSpc>
                <a:spcPct val="100000"/>
              </a:lnSpc>
              <a:spcBef>
                <a:spcPts val="0"/>
              </a:spcBef>
            </a:pPr>
            <a:r>
              <a:rPr lang="en-PH" dirty="0"/>
              <a:t>Agustin, Christian John L. </a:t>
            </a:r>
            <a:r>
              <a:rPr lang="en-US" dirty="0">
                <a:latin typeface="Tahoma" panose="020B0604030504040204" pitchFamily="34" charset="0"/>
                <a:ea typeface="Tahoma" panose="020B0604030504040204" pitchFamily="34" charset="0"/>
                <a:cs typeface="Tahoma" panose="020B0604030504040204" pitchFamily="34" charset="0"/>
              </a:rPr>
              <a:t>(WEB)</a:t>
            </a:r>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dirty="0"/>
              <a:t>Aguinaldo</a:t>
            </a:r>
            <a:r>
              <a:rPr lang="en-PH" dirty="0"/>
              <a:t>, </a:t>
            </a:r>
            <a:r>
              <a:rPr lang="en-US" dirty="0"/>
              <a:t>Jomarie F. </a:t>
            </a:r>
            <a:r>
              <a:rPr lang="en-US" dirty="0">
                <a:latin typeface="Tahoma" panose="020B0604030504040204" pitchFamily="34" charset="0"/>
                <a:ea typeface="Tahoma" panose="020B0604030504040204" pitchFamily="34" charset="0"/>
                <a:cs typeface="Tahoma" panose="020B0604030504040204" pitchFamily="34" charset="0"/>
              </a:rPr>
              <a:t>(WEB)</a:t>
            </a:r>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dirty="0"/>
              <a:t>Domingo</a:t>
            </a:r>
            <a:r>
              <a:rPr lang="en-PH" dirty="0"/>
              <a:t>, </a:t>
            </a:r>
            <a:r>
              <a:rPr lang="en-US" dirty="0" err="1"/>
              <a:t>Emyose</a:t>
            </a:r>
            <a:r>
              <a:rPr lang="en-US" dirty="0"/>
              <a:t> P. </a:t>
            </a:r>
            <a:r>
              <a:rPr lang="en-US" dirty="0">
                <a:latin typeface="Tahoma" panose="020B0604030504040204" pitchFamily="34" charset="0"/>
                <a:ea typeface="Tahoma" panose="020B0604030504040204" pitchFamily="34" charset="0"/>
                <a:cs typeface="Tahoma" panose="020B0604030504040204" pitchFamily="34" charset="0"/>
              </a:rPr>
              <a:t>(WEB)</a:t>
            </a:r>
            <a:endParaRPr 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dirty="0">
                <a:latin typeface="Tahoma" panose="020B0604030504040204" pitchFamily="34" charset="0"/>
                <a:ea typeface="Tahoma" panose="020B0604030504040204" pitchFamily="34" charset="0"/>
                <a:cs typeface="Tahoma" panose="020B0604030504040204" pitchFamily="34" charset="0"/>
              </a:rPr>
              <a:t>College of Information and Computing Sciences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noGrp="1"/>
          </p:cNvSpPr>
          <p:nvPr>
            <p:ph type="title"/>
          </p:nvPr>
        </p:nvSpPr>
        <p:spPr>
          <a:xfrm>
            <a:off x="113800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Rationale</a:t>
            </a:r>
            <a:endParaRPr lang="en-US" b="1" dirty="0">
              <a:ln>
                <a:solidFill>
                  <a:schemeClr val="tx1"/>
                </a:solidFill>
              </a:ln>
              <a:latin typeface="Desdemona" pitchFamily="82" charset="77"/>
            </a:endParaRPr>
          </a:p>
        </p:txBody>
      </p:sp>
      <p:sp>
        <p:nvSpPr>
          <p:cNvPr id="13" name="Content Placeholder 12"/>
          <p:cNvSpPr>
            <a:spLocks noGrp="1"/>
          </p:cNvSpPr>
          <p:nvPr>
            <p:ph sz="half" idx="1"/>
          </p:nvPr>
        </p:nvSpPr>
        <p:spPr>
          <a:xfrm>
            <a:off x="1605821" y="1253331"/>
            <a:ext cx="9579964" cy="4351338"/>
          </a:xfrm>
        </p:spPr>
        <p:txBody>
          <a:bodyPr>
            <a:normAutofit/>
          </a:bodyPr>
          <a:lstStyle/>
          <a:p>
            <a:pPr marL="0" indent="0">
              <a:buNone/>
            </a:pPr>
            <a:r>
              <a:rPr lang="en-US" altLang="en-US" dirty="0"/>
              <a:t>SkillUp is a personalized web learning portal addressing Filipino youth unemployment through SDG</a:t>
            </a:r>
            <a:r>
              <a:rPr lang="en-PH" altLang="en-US" dirty="0"/>
              <a:t> 4 &amp; 8</a:t>
            </a:r>
            <a:r>
              <a:rPr lang="en-US" altLang="en-US" dirty="0"/>
              <a:t>-aligned education and employment pathways. The system delivers tailored TESDA-based learning, skills assessments, and career guidance in one integrated platform—improving upon existing solutions by combining localization, user profiling, and progress tracking to equip young people with market-ready digital economy skills.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noGrp="1"/>
          </p:cNvSpPr>
          <p:nvPr>
            <p:ph type="title"/>
          </p:nvPr>
        </p:nvSpPr>
        <p:spPr>
          <a:xfrm>
            <a:off x="1138003" y="-2887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Rationale</a:t>
            </a:r>
            <a:endParaRPr lang="en-US" b="1" dirty="0">
              <a:ln>
                <a:solidFill>
                  <a:schemeClr val="tx1"/>
                </a:solidFill>
              </a:ln>
              <a:latin typeface="Desdemona" pitchFamily="82" charset="77"/>
            </a:endParaRPr>
          </a:p>
        </p:txBody>
      </p:sp>
      <p:graphicFrame>
        <p:nvGraphicFramePr>
          <p:cNvPr id="5" name="Content Placeholder 4"/>
          <p:cNvGraphicFramePr>
            <a:graphicFrameLocks noGrp="1"/>
          </p:cNvGraphicFramePr>
          <p:nvPr>
            <p:ph sz="half" idx="1"/>
          </p:nvPr>
        </p:nvGraphicFramePr>
        <p:xfrm>
          <a:off x="1280409" y="676174"/>
          <a:ext cx="10230788" cy="5120640"/>
        </p:xfrm>
        <a:graphic>
          <a:graphicData uri="http://schemas.openxmlformats.org/drawingml/2006/table">
            <a:tbl>
              <a:tblPr firstRow="1" bandRow="1">
                <a:tableStyleId>{5C22544A-7EE6-4342-B048-85BDC9FD1C3A}</a:tableStyleId>
              </a:tblPr>
              <a:tblGrid>
                <a:gridCol w="2557697"/>
                <a:gridCol w="2557697"/>
                <a:gridCol w="2557697"/>
                <a:gridCol w="2557697"/>
              </a:tblGrid>
              <a:tr h="322746">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en-US" dirty="0"/>
                        <a:t>NEED</a:t>
                      </a:r>
                      <a:endParaRPr lang="en-US" dirty="0"/>
                    </a:p>
                  </a:txBody>
                  <a:tcP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en-US" dirty="0"/>
                        <a:t>SOLUTION</a:t>
                      </a:r>
                      <a:endParaRPr lang="en-US" dirty="0"/>
                    </a:p>
                  </a:txBody>
                  <a:tcP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en-US" dirty="0"/>
                        <a:t>BENEFIT</a:t>
                      </a:r>
                      <a:endParaRPr lang="en-US" dirty="0"/>
                    </a:p>
                  </a:txBody>
                  <a:tcP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r>
                        <a:rPr lang="en-US" dirty="0"/>
                        <a:t>DIFFERENTIATION</a:t>
                      </a:r>
                      <a:endParaRPr lang="en-US" dirty="0"/>
                    </a:p>
                  </a:txBody>
                  <a:tcPr/>
                </a:tc>
              </a:tr>
              <a:tr h="4195697">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The Skills Mismatch. Fresh graduates in the Philippines often struggle to find work because their academic training doesn't match industry needs (e.g., a huge demand for Data Analytics, but students are trained only in general IT). Students are overwhelmed by generic online courses and don't know which specific skills to prioritize.</a:t>
                      </a:r>
                      <a:endParaRPr lang="en-US" dirty="0"/>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dirty="0"/>
                        <a:t>A web portal with an Intelligent Assessment Engine. Instead of just listing courses, the system first quizzes the user on their interests and current skills. It then generates a "Career Roadmap"—a step-by-step list of specific modules (videos, tutorials) needed to reach a target job (e.g., "Junior Web Developer").</a:t>
                      </a:r>
                      <a:endParaRPr lang="en-US" dirty="0"/>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PH" b="1" dirty="0"/>
                        <a:t>For Youth:</a:t>
                      </a:r>
                      <a:r>
                        <a:rPr lang="en-PH" dirty="0"/>
                        <a:t> Saves time by filtering out irrelevant content; provides a clear path to employability.</a:t>
                      </a:r>
                      <a:endParaRPr lang="en-PH" dirty="0"/>
                    </a:p>
                    <a:p>
                      <a:br>
                        <a:rPr lang="en-PH" dirty="0"/>
                      </a:br>
                      <a:endParaRPr lang="en-PH" dirty="0"/>
                    </a:p>
                    <a:p>
                      <a:r>
                        <a:rPr lang="en-PH" b="1" dirty="0"/>
                        <a:t>For Society:</a:t>
                      </a:r>
                      <a:r>
                        <a:rPr lang="en-PH" dirty="0"/>
                        <a:t> Increases the employability rate of the local workforce (aligning with TESDA's goals).</a:t>
                      </a:r>
                      <a:endParaRPr lang="en-PH" dirty="0"/>
                    </a:p>
                    <a:p>
                      <a:endParaRPr lang="en-US" dirty="0"/>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PH" b="1" dirty="0"/>
                        <a:t>Localization &amp; Assessment.</a:t>
                      </a:r>
                      <a:r>
                        <a:rPr lang="en-PH" dirty="0"/>
                        <a:t> unlike </a:t>
                      </a:r>
                      <a:r>
                        <a:rPr lang="en-PH" dirty="0" err="1"/>
                        <a:t>Udemy</a:t>
                      </a:r>
                      <a:r>
                        <a:rPr lang="en-PH" dirty="0"/>
                        <a:t> or Coursera which are "content-first" (browse and buy), </a:t>
                      </a:r>
                      <a:r>
                        <a:rPr lang="en-PH" dirty="0" err="1"/>
                        <a:t>SkillUp</a:t>
                      </a:r>
                      <a:r>
                        <a:rPr lang="en-PH" dirty="0"/>
                        <a:t> is </a:t>
                      </a:r>
                      <a:r>
                        <a:rPr lang="en-PH" b="1" dirty="0"/>
                        <a:t>"assessment-first"</a:t>
                      </a:r>
                      <a:r>
                        <a:rPr lang="en-PH" dirty="0"/>
                        <a:t> (test and recommend). It can also focus on </a:t>
                      </a:r>
                      <a:r>
                        <a:rPr lang="en-PH" i="1" dirty="0"/>
                        <a:t>local</a:t>
                      </a:r>
                      <a:r>
                        <a:rPr lang="en-PH" dirty="0"/>
                        <a:t> industry demands (e.g., Philippine BPO skills) rather than just general US-centric tech skills.</a:t>
                      </a:r>
                      <a:endParaRPr lang="en-US" dirty="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1549" y="1260753"/>
            <a:ext cx="10515600" cy="4667250"/>
          </a:xfrm>
        </p:spPr>
        <p:txBody>
          <a:bodyPr>
            <a:noAutofit/>
          </a:bodyPr>
          <a:lstStyle/>
          <a:p>
            <a:pPr lvl="0" algn="just">
              <a:lnSpc>
                <a:spcPct val="100000"/>
              </a:lnSpc>
              <a:spcBef>
                <a:spcPts val="0"/>
              </a:spcBef>
              <a:buFontTx/>
              <a:buChar char="-"/>
            </a:pPr>
            <a:r>
              <a:rPr lang="en-PH" sz="2400" dirty="0">
                <a:latin typeface="Tahoma" panose="020B0604030504040204" pitchFamily="34" charset="0"/>
                <a:ea typeface="Tahoma" panose="020B0604030504040204" pitchFamily="34" charset="0"/>
                <a:cs typeface="Tahoma" panose="020B0604030504040204" pitchFamily="34" charset="0"/>
              </a:rPr>
              <a:t>General </a:t>
            </a:r>
            <a:endParaRPr lang="en-PH" sz="2400" dirty="0">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FontTx/>
              <a:buNone/>
            </a:pPr>
            <a:r>
              <a:rPr lang="en-US" altLang="en-US" sz="2400" dirty="0">
                <a:latin typeface="Tahoma" panose="020B0604030504040204" pitchFamily="34" charset="0"/>
                <a:ea typeface="Tahoma" panose="020B0604030504040204" pitchFamily="34" charset="0"/>
                <a:cs typeface="Tahoma" panose="020B0604030504040204" pitchFamily="34" charset="0"/>
              </a:rPr>
              <a:t>To develop and evaluate SkillUp: A Personalized Web Learning Portal for Youth Career Development that addresses skills gaps and enhances career readiness among Filipino youth through tailored learning pathways, assessment tools, and labor market alignment.</a:t>
            </a: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PH" sz="2400" dirty="0">
                <a:effectLst/>
                <a:latin typeface="Tahoma" panose="020B0604030504040204" pitchFamily="34" charset="0"/>
                <a:ea typeface="Tahoma" panose="020B0604030504040204" pitchFamily="34" charset="0"/>
                <a:cs typeface="Tahoma" panose="020B0604030504040204" pitchFamily="34" charset="0"/>
              </a:rPr>
              <a:t>Specific</a:t>
            </a:r>
            <a:endParaRPr lang="en-PH"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FontTx/>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analyze existing practices, policies, problems, and issues in current skills development and career path systems;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FontTx/>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design and develop a web-based system integrating user profiling, skills assessment, course recommendation, and progress tracking features;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FontTx/>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evaluate the system's compliance with ISO/IEC 25010:2023 software quality standards across eight characteristics (Functional Suitability</a:t>
            </a:r>
            <a:r>
              <a:rPr lang="en-PH" altLang="en-US" sz="2400" dirty="0">
                <a:effectLst/>
                <a:latin typeface="Tahoma" panose="020B0604030504040204" pitchFamily="34" charset="0"/>
                <a:ea typeface="Tahoma" panose="020B0604030504040204" pitchFamily="34" charset="0"/>
                <a:cs typeface="Tahoma" panose="020B0604030504040204" pitchFamily="34" charset="0"/>
              </a:rPr>
              <a:t>)</a:t>
            </a:r>
            <a:endParaRPr lang="en-PH" altLang="en-US" sz="2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objectives</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1"/>
          <a:stretch>
            <a:fillRect/>
          </a:stretch>
        </p:blipFill>
        <p:spPr>
          <a:xfrm>
            <a:off x="2696716" y="1357313"/>
            <a:ext cx="7843143" cy="4667250"/>
          </a:xfrm>
          <a:prstGeom prst="rect">
            <a:avLst/>
          </a:prstGeom>
        </p:spPr>
      </p:pic>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Framework of the study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808" y="97726"/>
            <a:ext cx="10515600" cy="1325563"/>
          </a:xfrm>
        </p:spPr>
        <p:txBody>
          <a:bodyPr/>
          <a:lstStyle/>
          <a:p>
            <a:r>
              <a:rPr lang="en-US" dirty="0"/>
              <a:t>Scope &amp; Limitation</a:t>
            </a:r>
            <a:endParaRPr lang="en-ID" dirty="0"/>
          </a:p>
        </p:txBody>
      </p:sp>
      <p:sp>
        <p:nvSpPr>
          <p:cNvPr id="3" name="Content Placeholder 2"/>
          <p:cNvSpPr>
            <a:spLocks noGrp="1"/>
          </p:cNvSpPr>
          <p:nvPr>
            <p:ph sz="half" idx="1"/>
          </p:nvPr>
        </p:nvSpPr>
        <p:spPr>
          <a:xfrm>
            <a:off x="1240536" y="1423289"/>
            <a:ext cx="9229344" cy="4351338"/>
          </a:xfrm>
        </p:spPr>
        <p:txBody>
          <a:bodyPr>
            <a:normAutofit fontScale="70000"/>
          </a:bodyPr>
          <a:lstStyle/>
          <a:p>
            <a:r>
              <a:rPr lang="en-US" altLang="en-US" dirty="0"/>
              <a:t>SkillUp is a web-based career preparation portal for TESDA Aparri Polytechnic Institute youth, mapping online courses to institute programs including Bread and Pastry Production, Cookery, Electrical Installation, Computer Systems Servicing, Dressmaking, Front Office Services, and Caregiving NC II qualifications. The system integrates with TESDA Online Program (TOP) for theory modules, displaying recommended courses and career paths based on user assessments and local labor needs.</a:t>
            </a:r>
            <a:endParaRPr lang="en-US" altLang="en-US" dirty="0"/>
          </a:p>
          <a:p>
            <a:r>
              <a:rPr lang="en-US" altLang="en-US" dirty="0"/>
              <a:t>Key limitations: web-only access requiring internet; career suggestions depend on input accuracy; does not replace formal counseling, guarantee certification, or provide job placement; covers only registered TESDA API courses without creation rights; excludes long-term maintenance, external government database integration, or automatic enrollment into training programs.</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31849" y="1095653"/>
            <a:ext cx="10515600" cy="4667250"/>
          </a:xfrm>
        </p:spPr>
        <p:txBody>
          <a:bodyPr>
            <a:noAutofit/>
          </a:bodyPr>
          <a:lstStyle/>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Youth &amp; Learners-Gain personalized, self-paced learning pathways that enhance employability, enable informed career decisions, and foster lifelong learning readiness through data-driven skill development</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Educators &amp; Career Mentors-Access integrated tools to track student progress, identify competency gaps, and deliver targeted guidance—improving guidance program effectiveness and learner outcomes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ID" sz="2400" dirty="0"/>
              <a:t>TESDA &amp; Training Institutions</a:t>
            </a:r>
            <a:r>
              <a:rPr lang="en-ID" sz="2400" b="1" dirty="0"/>
              <a:t>-</a:t>
            </a:r>
            <a:r>
              <a:rPr lang="en-US" sz="2400" dirty="0"/>
              <a:t>Achieve better alignment between training offerings and industry demands, increasing program relevance, completion rates, and graduate employability</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Significance of study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70351" y="-69005"/>
            <a:ext cx="10515600" cy="4667250"/>
          </a:xfrm>
        </p:spPr>
        <p:txBody>
          <a:bodyPr>
            <a:noAutofit/>
          </a:bodyPr>
          <a:lstStyle/>
          <a:p>
            <a:pPr marL="0" lvl="0" indent="0" algn="just">
              <a:lnSpc>
                <a:spcPct val="100000"/>
              </a:lnSpc>
              <a:spcBef>
                <a:spcPts val="0"/>
              </a:spcBef>
              <a:buNone/>
            </a:pPr>
            <a:r>
              <a:rPr lang="en-ID" sz="2400" b="1" dirty="0"/>
              <a:t>Policymakers &amp; Government-</a:t>
            </a:r>
            <a:r>
              <a:rPr lang="en-US" sz="2400" dirty="0"/>
              <a:t>Obtain evidence-based insights for digital education initiatives that reduce youth unemployment, address skills mismatches, and advance regional workforce competitiveness</a:t>
            </a:r>
            <a:endParaRPr lang="en-US" sz="2400" dirty="0"/>
          </a:p>
          <a:p>
            <a:pPr marL="0" lvl="0" indent="0" algn="just">
              <a:lnSpc>
                <a:spcPct val="100000"/>
              </a:lnSpc>
              <a:spcBef>
                <a:spcPts val="0"/>
              </a:spcBef>
              <a:buNone/>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ID" sz="2400" b="1" dirty="0"/>
              <a:t>Researchers &amp; Developers-</a:t>
            </a:r>
            <a:r>
              <a:rPr lang="en-US" sz="2400" dirty="0"/>
              <a:t>Establish a replicable framework for personalized learning systems and career recommendation technologies, contributing to knowledge on adaptive educational platforms in developing economies</a:t>
            </a:r>
            <a:endParaRPr lang="en-US" sz="2400" dirty="0"/>
          </a:p>
          <a:p>
            <a:pPr marL="0" lvl="0" indent="0" algn="just">
              <a:lnSpc>
                <a:spcPct val="100000"/>
              </a:lnSpc>
              <a:spcBef>
                <a:spcPts val="0"/>
              </a:spcBef>
              <a:buNone/>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ID" sz="2400" b="1" dirty="0"/>
              <a:t>Future Implementers-</a:t>
            </a:r>
            <a:r>
              <a:rPr lang="en-US" sz="2400" dirty="0"/>
              <a:t>Benefit from documented methodologies, technical architectures, and evaluation protocols that enable scaling, adaptation, and integration with national employment systems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164" y="1690688"/>
            <a:ext cx="5181600" cy="4351338"/>
          </a:xfrm>
        </p:spPr>
        <p:txBody>
          <a:bodyPr>
            <a:normAutofit/>
          </a:bodyPr>
          <a:lstStyle/>
          <a:p>
            <a:r>
              <a:rPr lang="en-US" dirty="0"/>
              <a:t>Research Design</a:t>
            </a:r>
            <a:endParaRPr lang="en-US" dirty="0"/>
          </a:p>
        </p:txBody>
      </p:sp>
      <p:sp>
        <p:nvSpPr>
          <p:cNvPr id="4" name="Content Placeholder 3"/>
          <p:cNvSpPr>
            <a:spLocks noGrp="1"/>
          </p:cNvSpPr>
          <p:nvPr>
            <p:ph sz="half" idx="2"/>
          </p:nvPr>
        </p:nvSpPr>
        <p:spPr>
          <a:xfrm>
            <a:off x="4105656" y="1690688"/>
            <a:ext cx="7531708" cy="4351338"/>
          </a:xfrm>
        </p:spPr>
        <p:txBody>
          <a:bodyPr>
            <a:normAutofit/>
          </a:bodyPr>
          <a:lstStyle/>
          <a:p>
            <a:pPr marL="0" indent="0">
              <a:buNone/>
            </a:pPr>
            <a:r>
              <a:rPr lang="en-US" dirty="0"/>
              <a:t> The capstone project employs descriptive-developmental research design to develop and assess "</a:t>
            </a:r>
            <a:r>
              <a:rPr lang="en-US" dirty="0" err="1"/>
              <a:t>SkillUp</a:t>
            </a:r>
            <a:r>
              <a:rPr lang="en-US" dirty="0"/>
              <a:t>: A Personalized Web Learning Portal for Youth Career Development." The developmental research method proves optimal for this research because it enables researchers to build technological solutions through their structured approach which includes planning and design and development and testing stage</a:t>
            </a:r>
            <a:endParaRPr 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164" y="1690688"/>
            <a:ext cx="5181600" cy="4351338"/>
          </a:xfrm>
        </p:spPr>
        <p:txBody>
          <a:bodyPr/>
          <a:lstStyle/>
          <a:p>
            <a:r>
              <a:rPr lang="en-US" dirty="0"/>
              <a:t>Study Population</a:t>
            </a:r>
            <a:endParaRPr lang="en-US" dirty="0"/>
          </a:p>
        </p:txBody>
      </p:sp>
      <p:sp>
        <p:nvSpPr>
          <p:cNvPr id="4" name="Content Placeholder 3"/>
          <p:cNvSpPr>
            <a:spLocks noGrp="1"/>
          </p:cNvSpPr>
          <p:nvPr>
            <p:ph sz="half" idx="2"/>
          </p:nvPr>
        </p:nvSpPr>
        <p:spPr>
          <a:xfrm>
            <a:off x="4425696" y="1690688"/>
            <a:ext cx="7211668" cy="4351338"/>
          </a:xfrm>
        </p:spPr>
        <p:txBody>
          <a:bodyPr/>
          <a:lstStyle/>
          <a:p>
            <a:pPr marL="0" indent="0">
              <a:buNone/>
            </a:pPr>
            <a:r>
              <a:rPr lang="en-ID" dirty="0"/>
              <a:t>The participants of the study consisted of IT experts, target users, and researchers who will be involved in system evaluation and testing.</a:t>
            </a:r>
            <a:endParaRPr lang="en-ID" dirty="0"/>
          </a:p>
          <a:p>
            <a:pPr marL="0" indent="0">
              <a:buNone/>
            </a:pPr>
            <a:endParaRPr 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graphicFrame>
        <p:nvGraphicFramePr>
          <p:cNvPr id="2" name="Table 1"/>
          <p:cNvGraphicFramePr>
            <a:graphicFrameLocks noGrp="1"/>
          </p:cNvGraphicFramePr>
          <p:nvPr/>
        </p:nvGraphicFramePr>
        <p:xfrm>
          <a:off x="4425696" y="3302984"/>
          <a:ext cx="7211667" cy="2044027"/>
        </p:xfrm>
        <a:graphic>
          <a:graphicData uri="http://schemas.openxmlformats.org/drawingml/2006/table">
            <a:tbl>
              <a:tblPr firstRow="1" firstCol="1" bandRow="1">
                <a:tableStyleId>{5C22544A-7EE6-4342-B048-85BDC9FD1C3A}</a:tableStyleId>
              </a:tblPr>
              <a:tblGrid>
                <a:gridCol w="2416752"/>
                <a:gridCol w="2391026"/>
                <a:gridCol w="2403889"/>
              </a:tblGrid>
              <a:tr h="400107">
                <a:tc>
                  <a:txBody>
                    <a:bodyPr/>
                    <a:lstStyle/>
                    <a:p>
                      <a:pPr algn="just">
                        <a:lnSpc>
                          <a:spcPct val="200000"/>
                        </a:lnSpc>
                        <a:buNone/>
                      </a:pPr>
                      <a:r>
                        <a:rPr lang="en-ID" sz="1100">
                          <a:effectLst/>
                        </a:rPr>
                        <a:t>Participants</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00107">
                <a:tc>
                  <a:txBody>
                    <a:bodyPr/>
                    <a:lstStyle/>
                    <a:p>
                      <a:pPr algn="just">
                        <a:lnSpc>
                          <a:spcPct val="200000"/>
                        </a:lnSpc>
                        <a:buNone/>
                      </a:pPr>
                      <a:r>
                        <a:rPr lang="en-ID" sz="1100">
                          <a:effectLst/>
                        </a:rPr>
                        <a:t>IT Experts</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10</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14.92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00107">
                <a:tc>
                  <a:txBody>
                    <a:bodyPr/>
                    <a:lstStyle/>
                    <a:p>
                      <a:pPr algn="just">
                        <a:lnSpc>
                          <a:spcPct val="200000"/>
                        </a:lnSpc>
                        <a:buNone/>
                      </a:pPr>
                      <a:r>
                        <a:rPr lang="en-ID" sz="1100">
                          <a:effectLst/>
                        </a:rPr>
                        <a:t>Users (Students)</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20</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29.82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43599">
                <a:tc>
                  <a:txBody>
                    <a:bodyPr/>
                    <a:lstStyle/>
                    <a:p>
                      <a:pPr algn="just">
                        <a:lnSpc>
                          <a:spcPct val="200000"/>
                        </a:lnSpc>
                        <a:buNone/>
                      </a:pPr>
                      <a:r>
                        <a:rPr lang="en-ID" sz="1100">
                          <a:effectLst/>
                        </a:rPr>
                        <a:t>TESDA teachers</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37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a:effectLst/>
                        </a:rPr>
                        <a:t>55.22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00107">
                <a:tc>
                  <a:txBody>
                    <a:bodyPr/>
                    <a:lstStyle/>
                    <a:p>
                      <a:pPr algn="just">
                        <a:lnSpc>
                          <a:spcPct val="200000"/>
                        </a:lnSpc>
                        <a:buNone/>
                      </a:pPr>
                      <a:r>
                        <a:rPr lang="en-ID" sz="11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dirty="0">
                          <a:effectLst/>
                        </a:rPr>
                        <a:t>67</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200000"/>
                        </a:lnSpc>
                        <a:buNone/>
                      </a:pPr>
                      <a:r>
                        <a:rPr lang="en-PH" sz="1100" dirty="0">
                          <a:effectLst/>
                        </a:rPr>
                        <a:t>100</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164" y="1690688"/>
            <a:ext cx="5181600" cy="4351338"/>
          </a:xfrm>
        </p:spPr>
        <p:txBody>
          <a:bodyPr>
            <a:normAutofit fontScale="77500" lnSpcReduction="20000"/>
          </a:bodyPr>
          <a:lstStyle/>
          <a:p>
            <a:r>
              <a:rPr lang="en-US" dirty="0"/>
              <a:t>Data Collection tools</a:t>
            </a:r>
            <a:endParaRPr lang="en-US" dirty="0"/>
          </a:p>
        </p:txBody>
      </p:sp>
      <p:sp>
        <p:nvSpPr>
          <p:cNvPr id="4" name="Content Placeholder 3"/>
          <p:cNvSpPr>
            <a:spLocks noGrp="1"/>
          </p:cNvSpPr>
          <p:nvPr>
            <p:ph sz="half" idx="2"/>
          </p:nvPr>
        </p:nvSpPr>
        <p:spPr>
          <a:xfrm>
            <a:off x="4407408" y="1690688"/>
            <a:ext cx="7229956" cy="4351338"/>
          </a:xfrm>
        </p:spPr>
        <p:txBody>
          <a:bodyPr>
            <a:normAutofit fontScale="77500" lnSpcReduction="20000"/>
          </a:bodyPr>
          <a:lstStyle/>
          <a:p>
            <a:r>
              <a:rPr lang="en-PH" dirty="0"/>
              <a:t>The following instruments will be used to collect data:</a:t>
            </a:r>
            <a:endParaRPr lang="en-ID" dirty="0"/>
          </a:p>
          <a:p>
            <a:pPr marL="0" lvl="0" indent="0">
              <a:buNone/>
            </a:pPr>
            <a:r>
              <a:rPr lang="en-PH" dirty="0"/>
              <a:t>ISO/IEC 25010:2023 Evaluation Questionnaire</a:t>
            </a:r>
            <a:endParaRPr lang="en-ID" dirty="0"/>
          </a:p>
          <a:p>
            <a:r>
              <a:rPr lang="en-PH" dirty="0"/>
              <a:t>            The evaluation method assesses software quality through eight performance dimensions which include functional suitability, performance efficiency, compatibility, usability, reliability,security, maintainability and portability.</a:t>
            </a:r>
            <a:endParaRPr lang="en-ID" dirty="0"/>
          </a:p>
          <a:p>
            <a:pPr marL="0" lvl="0" indent="0">
              <a:buNone/>
            </a:pPr>
            <a:r>
              <a:rPr lang="en-PH" dirty="0"/>
              <a:t>UTAUT2-Based User Acceptance Survey</a:t>
            </a:r>
            <a:endParaRPr lang="en-ID" dirty="0"/>
          </a:p>
          <a:p>
            <a:r>
              <a:rPr lang="en-PH" dirty="0"/>
              <a:t>The survey measures system acceptance through seven factors which include performance expectancy and effort expectancy and social influence and facilitating conditions and hedonic motivation and price value and habit.</a:t>
            </a:r>
            <a:endParaRPr lang="en-ID" dirty="0"/>
          </a:p>
          <a:p>
            <a:pPr marL="0" indent="0">
              <a:buNone/>
            </a:pPr>
            <a:endParaRPr 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164" y="1690688"/>
            <a:ext cx="5181600" cy="4351338"/>
          </a:xfrm>
        </p:spPr>
        <p:txBody>
          <a:bodyPr>
            <a:normAutofit fontScale="77500" lnSpcReduction="20000"/>
          </a:bodyPr>
          <a:lstStyle/>
          <a:p>
            <a:r>
              <a:rPr lang="en-US" dirty="0"/>
              <a:t>Data Gathering Procedures</a:t>
            </a:r>
            <a:endParaRPr lang="en-US" dirty="0"/>
          </a:p>
        </p:txBody>
      </p:sp>
      <p:sp>
        <p:nvSpPr>
          <p:cNvPr id="4" name="Content Placeholder 3"/>
          <p:cNvSpPr>
            <a:spLocks noGrp="1"/>
          </p:cNvSpPr>
          <p:nvPr>
            <p:ph sz="half" idx="2"/>
          </p:nvPr>
        </p:nvSpPr>
        <p:spPr>
          <a:xfrm>
            <a:off x="4983480" y="1690688"/>
            <a:ext cx="6919060" cy="4351338"/>
          </a:xfrm>
        </p:spPr>
        <p:txBody>
          <a:bodyPr>
            <a:normAutofit fontScale="77500" lnSpcReduction="20000"/>
          </a:bodyPr>
          <a:lstStyle/>
          <a:p>
            <a:pPr marL="0" indent="0">
              <a:buNone/>
            </a:pPr>
            <a:r>
              <a:rPr lang="en-ID" b="1" dirty="0"/>
              <a:t> </a:t>
            </a:r>
            <a:r>
              <a:rPr lang="en-PH" b="1" dirty="0"/>
              <a:t>The researchers will follow a structured data gathering process:</a:t>
            </a:r>
            <a:endParaRPr lang="en-ID" dirty="0"/>
          </a:p>
          <a:p>
            <a:r>
              <a:rPr lang="en-PH" dirty="0"/>
              <a:t>   1.The study received institutional permission to begin its research activities.</a:t>
            </a:r>
            <a:endParaRPr lang="en-ID" dirty="0"/>
          </a:p>
          <a:p>
            <a:r>
              <a:rPr lang="en-PH" dirty="0"/>
              <a:t>   2.The participants received orientation about </a:t>
            </a:r>
            <a:r>
              <a:rPr lang="en-PH" dirty="0" err="1"/>
              <a:t>SkillUp's</a:t>
            </a:r>
            <a:r>
              <a:rPr lang="en-PH" dirty="0"/>
              <a:t> objectives and its operational processes.</a:t>
            </a:r>
            <a:endParaRPr lang="en-ID" dirty="0"/>
          </a:p>
          <a:p>
            <a:r>
              <a:rPr lang="en-PH" dirty="0"/>
              <a:t>   3.The users of the web portal completed their designated tasks through their site interactions</a:t>
            </a:r>
            <a:endParaRPr lang="en-ID" dirty="0"/>
          </a:p>
          <a:p>
            <a:r>
              <a:rPr lang="en-PH" dirty="0"/>
              <a:t>   4.IT experts used ISO/IEC 25010 standards to assess system performance.</a:t>
            </a:r>
            <a:endParaRPr lang="en-ID" dirty="0"/>
          </a:p>
          <a:p>
            <a:r>
              <a:rPr lang="en-PH" dirty="0"/>
              <a:t>   5.The users finished the UTAUT2 acceptance survey.</a:t>
            </a:r>
            <a:endParaRPr lang="en-ID" dirty="0"/>
          </a:p>
          <a:p>
            <a:r>
              <a:rPr lang="en-PH" dirty="0"/>
              <a:t>   6.The researchers prepared collected data for subsequent analysis work.</a:t>
            </a:r>
            <a:endParaRPr lang="en-ID" dirty="0"/>
          </a:p>
          <a:p>
            <a:pPr marL="0" indent="0">
              <a:buNone/>
            </a:pPr>
            <a:endParaRPr 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254577" y="1222004"/>
            <a:ext cx="3682846" cy="590499"/>
          </a:xfrm>
        </p:spPr>
        <p:txBody>
          <a:bodyPr>
            <a:normAutofit fontScale="77500" lnSpcReduction="20000"/>
          </a:bodyPr>
          <a:lstStyle/>
          <a:p>
            <a:pPr marL="0" indent="0">
              <a:buNone/>
            </a:pPr>
            <a:r>
              <a:rPr lang="en-US" sz="3400" dirty="0"/>
              <a:t>Ethical</a:t>
            </a:r>
            <a:r>
              <a:rPr lang="en-US" sz="2400" dirty="0"/>
              <a:t> </a:t>
            </a:r>
            <a:r>
              <a:rPr lang="en-US" sz="3400" dirty="0"/>
              <a:t>Considerations</a:t>
            </a:r>
            <a:endParaRPr lang="en-US" sz="3400" dirty="0"/>
          </a:p>
        </p:txBody>
      </p:sp>
      <p:sp>
        <p:nvSpPr>
          <p:cNvPr id="4" name="Content Placeholder 3"/>
          <p:cNvSpPr>
            <a:spLocks noGrp="1"/>
          </p:cNvSpPr>
          <p:nvPr>
            <p:ph sz="half" idx="2"/>
          </p:nvPr>
        </p:nvSpPr>
        <p:spPr>
          <a:xfrm>
            <a:off x="1347537" y="1690688"/>
            <a:ext cx="10289827" cy="4351338"/>
          </a:xfrm>
        </p:spPr>
        <p:txBody>
          <a:bodyPr>
            <a:noAutofit/>
          </a:bodyPr>
          <a:lstStyle/>
          <a:p>
            <a:pPr marL="0" indent="0">
              <a:buNone/>
            </a:pPr>
            <a:r>
              <a:rPr lang="en-US" sz="2400" dirty="0"/>
              <a:t> The researchers ensured ethical compliance throughout the </a:t>
            </a:r>
            <a:r>
              <a:rPr lang="en-US" sz="2400" dirty="0" err="1"/>
              <a:t>SkillUp</a:t>
            </a:r>
            <a:r>
              <a:rPr lang="en-US" sz="2400" dirty="0"/>
              <a:t> study by obtaining approval from the Ethics Review Committee and securing informed consent from all participants, who were fully informed of their voluntary right to withdraw without consequence. Data protection was strictly enforced through adherence to the Data Privacy Act of 2012, utilizing anonymization techniques and system security features such as secure login authentication and restricted database access. The study maintained confidentiality of all personal information, used data solely for academic purposes, and upheld principles of non-maleficence, honesty, and transparency by preventing harm, avoiding deception, and presenting findings without manipulation or fabrication.</a:t>
            </a:r>
            <a:endParaRPr lang="en-US" sz="2400"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164" y="1036415"/>
            <a:ext cx="7398198" cy="4351338"/>
          </a:xfrm>
        </p:spPr>
        <p:txBody>
          <a:bodyPr/>
          <a:lstStyle/>
          <a:p>
            <a:r>
              <a:rPr lang="en-US" dirty="0"/>
              <a:t>Data Analysis Tools and Techniques</a:t>
            </a:r>
            <a:endParaRPr lang="en-US" dirty="0"/>
          </a:p>
        </p:txBody>
      </p:sp>
      <p:graphicFrame>
        <p:nvGraphicFramePr>
          <p:cNvPr id="9" name="Content Placeholder 8"/>
          <p:cNvGraphicFramePr>
            <a:graphicFrameLocks noGrp="1"/>
          </p:cNvGraphicFramePr>
          <p:nvPr>
            <p:ph sz="half" idx="2"/>
          </p:nvPr>
        </p:nvGraphicFramePr>
        <p:xfrm>
          <a:off x="4064415" y="3429000"/>
          <a:ext cx="5146962" cy="2567540"/>
        </p:xfrm>
        <a:graphic>
          <a:graphicData uri="http://schemas.openxmlformats.org/drawingml/2006/table">
            <a:tbl>
              <a:tblPr firstRow="1" firstCol="1" bandRow="1">
                <a:tableStyleId>{5C22544A-7EE6-4342-B048-85BDC9FD1C3A}</a:tableStyleId>
              </a:tblPr>
              <a:tblGrid>
                <a:gridCol w="2573481"/>
                <a:gridCol w="2573481"/>
              </a:tblGrid>
              <a:tr h="513508">
                <a:tc>
                  <a:txBody>
                    <a:bodyPr/>
                    <a:lstStyle/>
                    <a:p>
                      <a:pPr marL="139700" algn="l">
                        <a:lnSpc>
                          <a:spcPct val="200000"/>
                        </a:lnSpc>
                        <a:buNone/>
                      </a:pPr>
                      <a:r>
                        <a:rPr lang="en-ID" sz="1100">
                          <a:effectLst/>
                        </a:rPr>
                        <a:t>Weighted 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139700" algn="l">
                        <a:lnSpc>
                          <a:spcPct val="200000"/>
                        </a:lnSpc>
                        <a:buNone/>
                      </a:pPr>
                      <a:r>
                        <a:rPr lang="en-ID" sz="1100">
                          <a:effectLst/>
                        </a:rPr>
                        <a:t>Interpretation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13508">
                <a:tc>
                  <a:txBody>
                    <a:bodyPr/>
                    <a:lstStyle/>
                    <a:p>
                      <a:pPr marL="139700" algn="l">
                        <a:lnSpc>
                          <a:spcPct val="200000"/>
                        </a:lnSpc>
                        <a:buNone/>
                      </a:pPr>
                      <a:r>
                        <a:rPr lang="en-ID" sz="1100">
                          <a:effectLst/>
                        </a:rPr>
                        <a:t>3.50 – 4.00</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139700" algn="l">
                        <a:lnSpc>
                          <a:spcPct val="200000"/>
                        </a:lnSpc>
                        <a:buNone/>
                      </a:pPr>
                      <a:r>
                        <a:rPr lang="en-ID" sz="1100">
                          <a:effectLst/>
                        </a:rPr>
                        <a:t>Highly Acceptable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13508">
                <a:tc>
                  <a:txBody>
                    <a:bodyPr/>
                    <a:lstStyle/>
                    <a:p>
                      <a:pPr marL="139700" algn="l">
                        <a:lnSpc>
                          <a:spcPct val="200000"/>
                        </a:lnSpc>
                        <a:buNone/>
                      </a:pPr>
                      <a:r>
                        <a:rPr lang="en-ID" sz="1100">
                          <a:effectLst/>
                        </a:rPr>
                        <a:t>2.50 – 3.49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139700" algn="l">
                        <a:lnSpc>
                          <a:spcPct val="200000"/>
                        </a:lnSpc>
                        <a:buNone/>
                      </a:pPr>
                      <a:r>
                        <a:rPr lang="en-ID" sz="1100">
                          <a:effectLst/>
                        </a:rPr>
                        <a:t>Acceptable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13508">
                <a:tc>
                  <a:txBody>
                    <a:bodyPr/>
                    <a:lstStyle/>
                    <a:p>
                      <a:pPr marL="139700" algn="l">
                        <a:lnSpc>
                          <a:spcPct val="200000"/>
                        </a:lnSpc>
                        <a:buNone/>
                      </a:pPr>
                      <a:r>
                        <a:rPr lang="en-ID" sz="1100">
                          <a:effectLst/>
                        </a:rPr>
                        <a:t>1.50 – 2.49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139700" algn="l">
                        <a:lnSpc>
                          <a:spcPct val="200000"/>
                        </a:lnSpc>
                        <a:buNone/>
                      </a:pPr>
                      <a:r>
                        <a:rPr lang="en-ID" sz="1100">
                          <a:effectLst/>
                        </a:rPr>
                        <a:t>Slightly Acceptable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13508">
                <a:tc>
                  <a:txBody>
                    <a:bodyPr/>
                    <a:lstStyle/>
                    <a:p>
                      <a:pPr marL="139700" algn="l">
                        <a:lnSpc>
                          <a:spcPct val="200000"/>
                        </a:lnSpc>
                        <a:buNone/>
                      </a:pPr>
                      <a:r>
                        <a:rPr lang="en-ID" sz="1100">
                          <a:effectLst/>
                        </a:rPr>
                        <a:t>1.00 – 1.49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139700" algn="l">
                        <a:lnSpc>
                          <a:spcPct val="200000"/>
                        </a:lnSpc>
                        <a:buNone/>
                      </a:pPr>
                      <a:r>
                        <a:rPr lang="en-ID" sz="1100" dirty="0">
                          <a:effectLst/>
                        </a:rPr>
                        <a:t>Not Acceptable</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
        <p:nvSpPr>
          <p:cNvPr id="10" name="TextBox 9"/>
          <p:cNvSpPr txBox="1"/>
          <p:nvPr/>
        </p:nvSpPr>
        <p:spPr>
          <a:xfrm>
            <a:off x="1058780" y="1470247"/>
            <a:ext cx="11434813" cy="2308324"/>
          </a:xfrm>
          <a:prstGeom prst="rect">
            <a:avLst/>
          </a:prstGeom>
          <a:noFill/>
        </p:spPr>
        <p:txBody>
          <a:bodyPr wrap="square" rtlCol="0">
            <a:spAutoFit/>
          </a:bodyPr>
          <a:lstStyle/>
          <a:p>
            <a:r>
              <a:rPr lang="en-PH" sz="2400" dirty="0"/>
              <a:t> Descriptive statistical methods will be used to analyze collected data. Weighted mean was computed to determine the level of system quality and user acceptance.</a:t>
            </a:r>
            <a:endParaRPr lang="en-ID" sz="2400" dirty="0"/>
          </a:p>
          <a:p>
            <a:r>
              <a:rPr lang="en-PH" sz="2400" dirty="0"/>
              <a:t> Interpretation scale:</a:t>
            </a:r>
            <a:endParaRPr lang="en-ID" sz="2400" dirty="0"/>
          </a:p>
          <a:p>
            <a:r>
              <a:rPr lang="en-PH" sz="2400" dirty="0"/>
              <a:t> Evaluation results made it obvious whether input into </a:t>
            </a:r>
            <a:r>
              <a:rPr lang="en-PH" sz="2400" dirty="0" err="1"/>
              <a:t>SkillUp</a:t>
            </a:r>
            <a:r>
              <a:rPr lang="en-PH" sz="2400" dirty="0"/>
              <a:t> met ISO/IEC 25010 standards and then was well-received in terms of user acceptance based on UTAUT2 constructs.</a:t>
            </a:r>
            <a:endParaRPr lang="en-ID"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noGrp="1"/>
          </p:cNvSpPr>
          <p:nvPr>
            <p:ph type="title"/>
          </p:nvPr>
        </p:nvSpPr>
        <p:spPr>
          <a:xfrm>
            <a:off x="1056182" y="-434262"/>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prototype</a:t>
            </a:r>
            <a:endParaRPr lang="en-US" b="1" dirty="0">
              <a:ln>
                <a:solidFill>
                  <a:schemeClr val="tx1"/>
                </a:solidFill>
              </a:ln>
              <a:latin typeface="Desdemona" pitchFamily="82" charset="77"/>
            </a:endParaRPr>
          </a:p>
        </p:txBody>
      </p:sp>
      <p:pic>
        <p:nvPicPr>
          <p:cNvPr id="3" name="Picture 2"/>
          <p:cNvPicPr>
            <a:picLocks noChangeAspect="1"/>
          </p:cNvPicPr>
          <p:nvPr/>
        </p:nvPicPr>
        <p:blipFill>
          <a:blip r:embed="rId1"/>
          <a:stretch>
            <a:fillRect/>
          </a:stretch>
        </p:blipFill>
        <p:spPr>
          <a:xfrm>
            <a:off x="1219200" y="532710"/>
            <a:ext cx="10185400" cy="5347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1270000" y="0"/>
            <a:ext cx="10922000" cy="580123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25450" y="311785"/>
            <a:ext cx="11036300" cy="5847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092200" y="0"/>
            <a:ext cx="10998200" cy="57179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noGrp="1"/>
          </p:cNvSpPr>
          <p:nvPr>
            <p:ph type="title"/>
          </p:nvPr>
        </p:nvSpPr>
        <p:spPr>
          <a:xfrm>
            <a:off x="1056182" y="-279767"/>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implementation plan</a:t>
            </a:r>
            <a:endParaRPr lang="en-US" b="1" dirty="0">
              <a:ln>
                <a:solidFill>
                  <a:schemeClr val="tx1"/>
                </a:solidFill>
              </a:ln>
              <a:latin typeface="Desdemona" pitchFamily="82" charset="77"/>
            </a:endParaRPr>
          </a:p>
        </p:txBody>
      </p:sp>
      <p:graphicFrame>
        <p:nvGraphicFramePr>
          <p:cNvPr id="12" name="Table 11"/>
          <p:cNvGraphicFramePr>
            <a:graphicFrameLocks noGrp="1"/>
          </p:cNvGraphicFramePr>
          <p:nvPr/>
        </p:nvGraphicFramePr>
        <p:xfrm>
          <a:off x="1136850" y="680034"/>
          <a:ext cx="9998968" cy="4006267"/>
        </p:xfrm>
        <a:graphic>
          <a:graphicData uri="http://schemas.openxmlformats.org/drawingml/2006/table">
            <a:tbl>
              <a:tblPr firstRow="1" bandRow="1">
                <a:tableStyleId>{5C22544A-7EE6-4342-B048-85BDC9FD1C3A}</a:tableStyleId>
              </a:tblPr>
              <a:tblGrid>
                <a:gridCol w="4999484"/>
                <a:gridCol w="4999484"/>
              </a:tblGrid>
              <a:tr h="610593">
                <a:tc>
                  <a:txBody>
                    <a:bodyPr/>
                    <a:lstStyle/>
                    <a:p>
                      <a:pPr algn="l" fontAlgn="base">
                        <a:lnSpc>
                          <a:spcPts val="1650"/>
                        </a:lnSpc>
                        <a:buNone/>
                      </a:pPr>
                      <a:r>
                        <a:rPr lang="en-ID" b="1">
                          <a:effectLst/>
                          <a:latin typeface="inherit"/>
                        </a:rPr>
                        <a:t>Aspect</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Details</a:t>
                      </a:r>
                      <a:endParaRPr lang="en-ID" b="1">
                        <a:effectLst/>
                        <a:latin typeface="inherit"/>
                      </a:endParaRPr>
                    </a:p>
                  </a:txBody>
                  <a:tcPr marL="63500" marR="63500" marT="63500" marB="63500" anchor="ctr"/>
                </a:tc>
              </a:tr>
              <a:tr h="610593">
                <a:tc>
                  <a:txBody>
                    <a:bodyPr/>
                    <a:lstStyle/>
                    <a:p>
                      <a:pPr algn="l" fontAlgn="base">
                        <a:lnSpc>
                          <a:spcPts val="1650"/>
                        </a:lnSpc>
                        <a:buNone/>
                      </a:pPr>
                      <a:r>
                        <a:rPr lang="en-ID" b="1">
                          <a:effectLst/>
                          <a:latin typeface="inherit"/>
                        </a:rPr>
                        <a:t>Project Duration</a:t>
                      </a:r>
                      <a:endParaRPr lang="en-ID">
                        <a:effectLst/>
                        <a:latin typeface="inherit"/>
                      </a:endParaRPr>
                    </a:p>
                  </a:txBody>
                  <a:tcPr marL="63500" marR="63500" marT="63500" marB="63500" anchor="ctr"/>
                </a:tc>
                <a:tc>
                  <a:txBody>
                    <a:bodyPr/>
                    <a:lstStyle/>
                    <a:p>
                      <a:pPr algn="l" fontAlgn="base">
                        <a:lnSpc>
                          <a:spcPts val="1650"/>
                        </a:lnSpc>
                        <a:buNone/>
                      </a:pPr>
                      <a:r>
                        <a:rPr lang="en-ID" dirty="0">
                          <a:effectLst/>
                          <a:latin typeface="inherit"/>
                        </a:rPr>
                        <a:t>6 months (24 weeks)</a:t>
                      </a:r>
                      <a:endParaRPr lang="en-ID" dirty="0">
                        <a:effectLst/>
                        <a:latin typeface="inherit"/>
                      </a:endParaRPr>
                    </a:p>
                  </a:txBody>
                  <a:tcPr marL="63500" marR="63500" marT="63500" marB="63500" anchor="ctr"/>
                </a:tc>
              </a:tr>
              <a:tr h="610593">
                <a:tc>
                  <a:txBody>
                    <a:bodyPr/>
                    <a:lstStyle/>
                    <a:p>
                      <a:pPr algn="l" fontAlgn="base">
                        <a:lnSpc>
                          <a:spcPts val="1650"/>
                        </a:lnSpc>
                        <a:buNone/>
                      </a:pPr>
                      <a:r>
                        <a:rPr lang="en-ID" b="1">
                          <a:effectLst/>
                          <a:latin typeface="inherit"/>
                        </a:rPr>
                        <a:t>Methodology</a:t>
                      </a:r>
                      <a:endParaRPr lang="en-ID">
                        <a:effectLst/>
                        <a:latin typeface="inherit"/>
                      </a:endParaRPr>
                    </a:p>
                  </a:txBody>
                  <a:tcPr marL="63500" marR="63500" marT="63500" marB="63500" anchor="ctr"/>
                </a:tc>
                <a:tc>
                  <a:txBody>
                    <a:bodyPr/>
                    <a:lstStyle/>
                    <a:p>
                      <a:pPr algn="l" fontAlgn="base">
                        <a:lnSpc>
                          <a:spcPts val="1650"/>
                        </a:lnSpc>
                        <a:buNone/>
                      </a:pPr>
                      <a:r>
                        <a:rPr lang="en-US">
                          <a:effectLst/>
                          <a:latin typeface="inherit"/>
                        </a:rPr>
                        <a:t>Agile Software Development (6 phases)</a:t>
                      </a:r>
                      <a:endParaRPr lang="en-US">
                        <a:effectLst/>
                        <a:latin typeface="inherit"/>
                      </a:endParaRPr>
                    </a:p>
                  </a:txBody>
                  <a:tcPr marL="63500" marR="63500" marT="63500" marB="63500" anchor="ctr"/>
                </a:tc>
              </a:tr>
              <a:tr h="610593">
                <a:tc>
                  <a:txBody>
                    <a:bodyPr/>
                    <a:lstStyle/>
                    <a:p>
                      <a:pPr algn="l" fontAlgn="base">
                        <a:lnSpc>
                          <a:spcPts val="1650"/>
                        </a:lnSpc>
                        <a:buNone/>
                      </a:pPr>
                      <a:r>
                        <a:rPr lang="en-ID" b="1">
                          <a:effectLst/>
                          <a:latin typeface="inherit"/>
                        </a:rPr>
                        <a:t>Development Team</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3 researchers/developers</a:t>
                      </a:r>
                      <a:endParaRPr lang="en-ID">
                        <a:effectLst/>
                        <a:latin typeface="inherit"/>
                      </a:endParaRPr>
                    </a:p>
                  </a:txBody>
                  <a:tcPr marL="63500" marR="63500" marT="63500" marB="63500" anchor="ctr"/>
                </a:tc>
              </a:tr>
              <a:tr h="953302">
                <a:tc>
                  <a:txBody>
                    <a:bodyPr/>
                    <a:lstStyle/>
                    <a:p>
                      <a:pPr algn="l" fontAlgn="base">
                        <a:lnSpc>
                          <a:spcPts val="1650"/>
                        </a:lnSpc>
                        <a:buNone/>
                      </a:pPr>
                      <a:r>
                        <a:rPr lang="en-ID" b="1">
                          <a:effectLst/>
                          <a:latin typeface="inherit"/>
                        </a:rPr>
                        <a:t>Key Technologies</a:t>
                      </a:r>
                      <a:endParaRPr lang="en-ID">
                        <a:effectLst/>
                        <a:latin typeface="inherit"/>
                      </a:endParaRPr>
                    </a:p>
                  </a:txBody>
                  <a:tcPr marL="63500" marR="63500" marT="63500" marB="63500" anchor="ctr"/>
                </a:tc>
                <a:tc>
                  <a:txBody>
                    <a:bodyPr/>
                    <a:lstStyle/>
                    <a:p>
                      <a:pPr algn="l" fontAlgn="base">
                        <a:lnSpc>
                          <a:spcPts val="1650"/>
                        </a:lnSpc>
                        <a:buNone/>
                      </a:pPr>
                      <a:r>
                        <a:rPr lang="en-ID" dirty="0">
                          <a:effectLst/>
                          <a:latin typeface="inherit"/>
                        </a:rPr>
                        <a:t>Node.js, , MySQL,, Visual Studio Code, Git/GitHub, XAMPP</a:t>
                      </a:r>
                      <a:endParaRPr lang="en-ID" dirty="0">
                        <a:effectLst/>
                        <a:latin typeface="inherit"/>
                      </a:endParaRPr>
                    </a:p>
                  </a:txBody>
                  <a:tcPr marL="63500" marR="63500" marT="63500" marB="63500" anchor="ctr"/>
                </a:tc>
              </a:tr>
              <a:tr h="610593">
                <a:tc>
                  <a:txBody>
                    <a:bodyPr/>
                    <a:lstStyle/>
                    <a:p>
                      <a:pPr algn="l" fontAlgn="base">
                        <a:lnSpc>
                          <a:spcPts val="1650"/>
                        </a:lnSpc>
                        <a:buNone/>
                      </a:pPr>
                      <a:r>
                        <a:rPr lang="en-ID" b="1">
                          <a:effectLst/>
                          <a:latin typeface="inherit"/>
                        </a:rPr>
                        <a:t>Deployment Target</a:t>
                      </a:r>
                      <a:endParaRPr lang="en-ID">
                        <a:effectLst/>
                        <a:latin typeface="inherit"/>
                      </a:endParaRPr>
                    </a:p>
                  </a:txBody>
                  <a:tcPr marL="63500" marR="63500" marT="63500" marB="63500" anchor="ctr"/>
                </a:tc>
                <a:tc>
                  <a:txBody>
                    <a:bodyPr/>
                    <a:lstStyle/>
                    <a:p>
                      <a:pPr algn="l" fontAlgn="base">
                        <a:lnSpc>
                          <a:spcPts val="1650"/>
                        </a:lnSpc>
                        <a:buNone/>
                      </a:pPr>
                      <a:r>
                        <a:rPr lang="en-US" dirty="0">
                          <a:effectLst/>
                          <a:latin typeface="inherit"/>
                        </a:rPr>
                        <a:t>Web-based platform hosted on AWS</a:t>
                      </a:r>
                      <a:endParaRPr lang="en-US" dirty="0">
                        <a:effectLst/>
                        <a:latin typeface="inherit"/>
                      </a:endParaRPr>
                    </a:p>
                  </a:txBody>
                  <a:tcPr marL="63500" marR="63500" marT="63500" marB="6350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noGrp="1"/>
          </p:cNvSpPr>
          <p:nvPr>
            <p:ph type="title"/>
          </p:nvPr>
        </p:nvSpPr>
        <p:spPr>
          <a:xfrm>
            <a:off x="1056182" y="-279767"/>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ln>
                <a:solidFill>
                  <a:schemeClr val="tx1"/>
                </a:solidFill>
              </a:ln>
              <a:latin typeface="Desdemona" pitchFamily="82" charset="77"/>
            </a:endParaRPr>
          </a:p>
        </p:txBody>
      </p:sp>
      <p:graphicFrame>
        <p:nvGraphicFramePr>
          <p:cNvPr id="13" name="Table 12"/>
          <p:cNvGraphicFramePr>
            <a:graphicFrameLocks noGrp="1"/>
          </p:cNvGraphicFramePr>
          <p:nvPr/>
        </p:nvGraphicFramePr>
        <p:xfrm>
          <a:off x="1157782" y="0"/>
          <a:ext cx="11135820" cy="5864256"/>
        </p:xfrm>
        <a:graphic>
          <a:graphicData uri="http://schemas.openxmlformats.org/drawingml/2006/table">
            <a:tbl>
              <a:tblPr firstRow="1" bandRow="1">
                <a:tableStyleId>{5C22544A-7EE6-4342-B048-85BDC9FD1C3A}</a:tableStyleId>
              </a:tblPr>
              <a:tblGrid>
                <a:gridCol w="2783955"/>
                <a:gridCol w="2783955"/>
                <a:gridCol w="2783955"/>
                <a:gridCol w="2783955"/>
              </a:tblGrid>
              <a:tr h="293229">
                <a:tc>
                  <a:txBody>
                    <a:bodyPr/>
                    <a:lstStyle/>
                    <a:p>
                      <a:pPr algn="l" fontAlgn="base">
                        <a:lnSpc>
                          <a:spcPts val="1650"/>
                        </a:lnSpc>
                        <a:buNone/>
                      </a:pPr>
                      <a:r>
                        <a:rPr lang="en-ID" b="1" dirty="0">
                          <a:effectLst/>
                          <a:latin typeface="inherit"/>
                        </a:rPr>
                        <a:t>Phase</a:t>
                      </a:r>
                      <a:endParaRPr lang="en-ID" b="1" dirty="0">
                        <a:effectLst/>
                        <a:latin typeface="inherit"/>
                      </a:endParaRPr>
                    </a:p>
                  </a:txBody>
                  <a:tcPr marL="63500" marR="63500" marT="63500" marB="63500" anchor="ctr"/>
                </a:tc>
                <a:tc>
                  <a:txBody>
                    <a:bodyPr/>
                    <a:lstStyle/>
                    <a:p>
                      <a:pPr algn="l" fontAlgn="base">
                        <a:lnSpc>
                          <a:spcPts val="1650"/>
                        </a:lnSpc>
                        <a:buNone/>
                      </a:pPr>
                      <a:r>
                        <a:rPr lang="en-ID" b="1">
                          <a:effectLst/>
                          <a:latin typeface="inherit"/>
                        </a:rPr>
                        <a:t>Duration</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Focus</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Key Output</a:t>
                      </a:r>
                      <a:endParaRPr lang="en-ID" b="1">
                        <a:effectLst/>
                        <a:latin typeface="inherit"/>
                      </a:endParaRPr>
                    </a:p>
                  </a:txBody>
                  <a:tcPr marL="63500" marR="63500" marT="63500" marB="63500" anchor="ctr"/>
                </a:tc>
              </a:tr>
              <a:tr h="474499">
                <a:tc>
                  <a:txBody>
                    <a:bodyPr/>
                    <a:lstStyle/>
                    <a:p>
                      <a:pPr algn="l" fontAlgn="base">
                        <a:lnSpc>
                          <a:spcPts val="1650"/>
                        </a:lnSpc>
                        <a:buNone/>
                      </a:pPr>
                      <a:r>
                        <a:rPr lang="en-ID" b="1">
                          <a:effectLst/>
                          <a:latin typeface="inherit"/>
                        </a:rPr>
                        <a:t>Planning</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1–2</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Define vision, scope, users, tech stack</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Project charter, requirements doc</a:t>
                      </a:r>
                      <a:endParaRPr lang="en-ID">
                        <a:effectLst/>
                        <a:latin typeface="inherit"/>
                      </a:endParaRPr>
                    </a:p>
                  </a:txBody>
                  <a:tcPr marL="63500" marR="63500" marT="63500" marB="63500" anchor="ctr"/>
                </a:tc>
              </a:tr>
              <a:tr h="655768">
                <a:tc>
                  <a:txBody>
                    <a:bodyPr/>
                    <a:lstStyle/>
                    <a:p>
                      <a:pPr algn="l" fontAlgn="base">
                        <a:lnSpc>
                          <a:spcPts val="1650"/>
                        </a:lnSpc>
                        <a:buNone/>
                      </a:pPr>
                      <a:r>
                        <a:rPr lang="en-ID" b="1">
                          <a:effectLst/>
                          <a:latin typeface="inherit"/>
                        </a:rPr>
                        <a:t>Analysis</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3–4</a:t>
                      </a:r>
                      <a:endParaRPr lang="en-ID">
                        <a:effectLst/>
                        <a:latin typeface="inherit"/>
                      </a:endParaRPr>
                    </a:p>
                  </a:txBody>
                  <a:tcPr marL="63500" marR="63500" marT="63500" marB="63500" anchor="ctr"/>
                </a:tc>
                <a:tc>
                  <a:txBody>
                    <a:bodyPr/>
                    <a:lstStyle/>
                    <a:p>
                      <a:pPr algn="l" fontAlgn="base">
                        <a:lnSpc>
                          <a:spcPts val="1650"/>
                        </a:lnSpc>
                        <a:buNone/>
                      </a:pPr>
                      <a:r>
                        <a:rPr lang="en-US">
                          <a:effectLst/>
                          <a:latin typeface="inherit"/>
                        </a:rPr>
                        <a:t>Identify barriers, survey stakeholders, gather requirements</a:t>
                      </a:r>
                      <a:endParaRPr lang="en-US">
                        <a:effectLst/>
                        <a:latin typeface="inherit"/>
                      </a:endParaRPr>
                    </a:p>
                  </a:txBody>
                  <a:tcPr marL="63500" marR="63500" marT="63500" marB="63500" anchor="ctr"/>
                </a:tc>
                <a:tc>
                  <a:txBody>
                    <a:bodyPr/>
                    <a:lstStyle/>
                    <a:p>
                      <a:pPr algn="l" fontAlgn="base">
                        <a:lnSpc>
                          <a:spcPts val="1650"/>
                        </a:lnSpc>
                        <a:buNone/>
                      </a:pPr>
                      <a:r>
                        <a:rPr lang="en-ID">
                          <a:effectLst/>
                          <a:latin typeface="inherit"/>
                        </a:rPr>
                        <a:t>Requirements specification, user journeys</a:t>
                      </a:r>
                      <a:endParaRPr lang="en-ID">
                        <a:effectLst/>
                        <a:latin typeface="inherit"/>
                      </a:endParaRPr>
                    </a:p>
                  </a:txBody>
                  <a:tcPr marL="63500" marR="63500" marT="63500" marB="63500" anchor="ctr"/>
                </a:tc>
              </a:tr>
              <a:tr h="655768">
                <a:tc>
                  <a:txBody>
                    <a:bodyPr/>
                    <a:lstStyle/>
                    <a:p>
                      <a:pPr algn="l" fontAlgn="base">
                        <a:lnSpc>
                          <a:spcPts val="1650"/>
                        </a:lnSpc>
                        <a:buNone/>
                      </a:pPr>
                      <a:r>
                        <a:rPr lang="en-ID" b="1">
                          <a:effectLst/>
                          <a:latin typeface="inherit"/>
                        </a:rPr>
                        <a:t>Design</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5–8</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Database schema, UI/UX wireframes, system architecture</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ERD, mockups, API docs</a:t>
                      </a:r>
                      <a:endParaRPr lang="en-ID">
                        <a:effectLst/>
                        <a:latin typeface="inherit"/>
                      </a:endParaRPr>
                    </a:p>
                  </a:txBody>
                  <a:tcPr marL="63500" marR="63500" marT="63500" marB="63500" anchor="ctr"/>
                </a:tc>
              </a:tr>
              <a:tr h="837037">
                <a:tc>
                  <a:txBody>
                    <a:bodyPr/>
                    <a:lstStyle/>
                    <a:p>
                      <a:pPr algn="l" fontAlgn="base">
                        <a:lnSpc>
                          <a:spcPts val="1650"/>
                        </a:lnSpc>
                        <a:buNone/>
                      </a:pPr>
                      <a:r>
                        <a:rPr lang="en-ID" b="1">
                          <a:effectLst/>
                          <a:latin typeface="inherit"/>
                        </a:rPr>
                        <a:t>Development</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9–16</a:t>
                      </a:r>
                      <a:endParaRPr lang="en-ID">
                        <a:effectLst/>
                        <a:latin typeface="inherit"/>
                      </a:endParaRPr>
                    </a:p>
                  </a:txBody>
                  <a:tcPr marL="63500" marR="63500" marT="63500" marB="63500" anchor="ctr"/>
                </a:tc>
                <a:tc>
                  <a:txBody>
                    <a:bodyPr/>
                    <a:lstStyle/>
                    <a:p>
                      <a:pPr algn="l" fontAlgn="base">
                        <a:lnSpc>
                          <a:spcPts val="1650"/>
                        </a:lnSpc>
                        <a:buNone/>
                      </a:pPr>
                      <a:r>
                        <a:rPr lang="en-US">
                          <a:effectLst/>
                          <a:latin typeface="inherit"/>
                        </a:rPr>
                        <a:t>Build backend (Node.js/Express), frontend (React), integrate TESDA TOP</a:t>
                      </a:r>
                      <a:endParaRPr lang="en-US">
                        <a:effectLst/>
                        <a:latin typeface="inherit"/>
                      </a:endParaRPr>
                    </a:p>
                  </a:txBody>
                  <a:tcPr marL="63500" marR="63500" marT="63500" marB="63500" anchor="ctr"/>
                </a:tc>
                <a:tc>
                  <a:txBody>
                    <a:bodyPr/>
                    <a:lstStyle/>
                    <a:p>
                      <a:pPr algn="l" fontAlgn="base">
                        <a:lnSpc>
                          <a:spcPts val="1650"/>
                        </a:lnSpc>
                        <a:buNone/>
                      </a:pPr>
                      <a:r>
                        <a:rPr lang="en-ID">
                          <a:effectLst/>
                          <a:latin typeface="inherit"/>
                        </a:rPr>
                        <a:t>Functional web portal, source code</a:t>
                      </a:r>
                      <a:endParaRPr lang="en-ID">
                        <a:effectLst/>
                        <a:latin typeface="inherit"/>
                      </a:endParaRPr>
                    </a:p>
                  </a:txBody>
                  <a:tcPr marL="63500" marR="63500" marT="63500" marB="63500" anchor="ctr"/>
                </a:tc>
              </a:tr>
              <a:tr h="648564">
                <a:tc>
                  <a:txBody>
                    <a:bodyPr/>
                    <a:lstStyle/>
                    <a:p>
                      <a:pPr algn="l" fontAlgn="base">
                        <a:lnSpc>
                          <a:spcPts val="1650"/>
                        </a:lnSpc>
                        <a:buNone/>
                      </a:pPr>
                      <a:r>
                        <a:rPr lang="en-ID" b="1">
                          <a:effectLst/>
                          <a:latin typeface="inherit"/>
                        </a:rPr>
                        <a:t>Testing</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17–20</a:t>
                      </a:r>
                      <a:endParaRPr lang="en-ID">
                        <a:effectLst/>
                        <a:latin typeface="inherit"/>
                      </a:endParaRPr>
                    </a:p>
                  </a:txBody>
                  <a:tcPr marL="63500" marR="63500" marT="63500" marB="63500" anchor="ctr"/>
                </a:tc>
                <a:tc>
                  <a:txBody>
                    <a:bodyPr/>
                    <a:lstStyle/>
                    <a:p>
                      <a:pPr algn="l" fontAlgn="base">
                        <a:lnSpc>
                          <a:spcPts val="1650"/>
                        </a:lnSpc>
                        <a:buNone/>
                      </a:pPr>
                      <a:r>
                        <a:rPr lang="en-US">
                          <a:effectLst/>
                          <a:latin typeface="inherit"/>
                        </a:rPr>
                        <a:t>Functional, usability, ISO/IEC 25010, UTAUT2 testing</a:t>
                      </a:r>
                      <a:endParaRPr lang="en-US">
                        <a:effectLst/>
                        <a:latin typeface="inherit"/>
                      </a:endParaRPr>
                    </a:p>
                  </a:txBody>
                  <a:tcPr marL="63500" marR="63500" marT="63500" marB="63500" anchor="ctr"/>
                </a:tc>
                <a:tc>
                  <a:txBody>
                    <a:bodyPr/>
                    <a:lstStyle/>
                    <a:p>
                      <a:pPr algn="l" fontAlgn="base">
                        <a:lnSpc>
                          <a:spcPts val="1650"/>
                        </a:lnSpc>
                        <a:buNone/>
                      </a:pPr>
                      <a:r>
                        <a:rPr lang="en-ID">
                          <a:effectLst/>
                          <a:latin typeface="inherit"/>
                        </a:rPr>
                        <a:t>Test reports, evaluation results</a:t>
                      </a:r>
                      <a:endParaRPr lang="en-ID">
                        <a:effectLst/>
                        <a:latin typeface="inherit"/>
                      </a:endParaRPr>
                    </a:p>
                  </a:txBody>
                  <a:tcPr marL="63500" marR="63500" marT="63500" marB="63500" anchor="ctr"/>
                </a:tc>
              </a:tr>
              <a:tr h="827842">
                <a:tc>
                  <a:txBody>
                    <a:bodyPr/>
                    <a:lstStyle/>
                    <a:p>
                      <a:pPr algn="l" fontAlgn="base">
                        <a:lnSpc>
                          <a:spcPts val="1650"/>
                        </a:lnSpc>
                        <a:buNone/>
                      </a:pPr>
                      <a:r>
                        <a:rPr lang="en-ID" b="1" dirty="0">
                          <a:effectLst/>
                          <a:latin typeface="inherit"/>
                        </a:rPr>
                        <a:t>Deployment</a:t>
                      </a:r>
                      <a:endParaRPr lang="en-ID" dirty="0">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21–24</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AWS hosting, pilot testing, feedback integration, documentation</a:t>
                      </a:r>
                      <a:endParaRPr lang="en-ID">
                        <a:effectLst/>
                        <a:latin typeface="inherit"/>
                      </a:endParaRPr>
                    </a:p>
                  </a:txBody>
                  <a:tcPr marL="63500" marR="63500" marT="63500" marB="63500" anchor="ctr"/>
                </a:tc>
                <a:tc>
                  <a:txBody>
                    <a:bodyPr/>
                    <a:lstStyle/>
                    <a:p>
                      <a:pPr algn="l" fontAlgn="base">
                        <a:lnSpc>
                          <a:spcPts val="1650"/>
                        </a:lnSpc>
                        <a:buNone/>
                      </a:pPr>
                      <a:r>
                        <a:rPr lang="en-US">
                          <a:effectLst/>
                          <a:latin typeface="inherit"/>
                        </a:rPr>
                        <a:t>Live platform, user manual, final report</a:t>
                      </a:r>
                      <a:endParaRPr lang="en-US">
                        <a:effectLst/>
                        <a:latin typeface="inherit"/>
                      </a:endParaRPr>
                    </a:p>
                  </a:txBody>
                  <a:tcPr marL="63500" marR="63500" marT="63500" marB="63500" anchor="ctr"/>
                </a:tc>
              </a:tr>
              <a:tr h="293229">
                <a:tc>
                  <a:txBody>
                    <a:bodyPr/>
                    <a:lstStyle/>
                    <a:p>
                      <a:pPr algn="l" fontAlgn="base">
                        <a:lnSpc>
                          <a:spcPts val="1650"/>
                        </a:lnSpc>
                        <a:buNone/>
                      </a:pPr>
                      <a:r>
                        <a:rPr lang="en-ID" b="1">
                          <a:effectLst/>
                          <a:latin typeface="inherit"/>
                        </a:rPr>
                        <a:t>Phase</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Duration</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Focus</a:t>
                      </a:r>
                      <a:endParaRPr lang="en-ID" b="1">
                        <a:effectLst/>
                        <a:latin typeface="inherit"/>
                      </a:endParaRPr>
                    </a:p>
                  </a:txBody>
                  <a:tcPr marL="63500" marR="63500" marT="63500" marB="63500" anchor="ctr"/>
                </a:tc>
                <a:tc>
                  <a:txBody>
                    <a:bodyPr/>
                    <a:lstStyle/>
                    <a:p>
                      <a:pPr algn="l" fontAlgn="base">
                        <a:lnSpc>
                          <a:spcPts val="1650"/>
                        </a:lnSpc>
                        <a:buNone/>
                      </a:pPr>
                      <a:r>
                        <a:rPr lang="en-ID" b="1">
                          <a:effectLst/>
                          <a:latin typeface="inherit"/>
                        </a:rPr>
                        <a:t>Key Output</a:t>
                      </a:r>
                      <a:endParaRPr lang="en-ID" b="1">
                        <a:effectLst/>
                        <a:latin typeface="inherit"/>
                      </a:endParaRPr>
                    </a:p>
                  </a:txBody>
                  <a:tcPr marL="63500" marR="63500" marT="63500" marB="63500" anchor="ctr"/>
                </a:tc>
              </a:tr>
              <a:tr h="474499">
                <a:tc>
                  <a:txBody>
                    <a:bodyPr/>
                    <a:lstStyle/>
                    <a:p>
                      <a:pPr algn="l" fontAlgn="base">
                        <a:lnSpc>
                          <a:spcPts val="1650"/>
                        </a:lnSpc>
                        <a:buNone/>
                      </a:pPr>
                      <a:r>
                        <a:rPr lang="en-ID" b="1">
                          <a:effectLst/>
                          <a:latin typeface="inherit"/>
                        </a:rPr>
                        <a:t>Planning</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Weeks 1–2</a:t>
                      </a:r>
                      <a:endParaRPr lang="en-ID">
                        <a:effectLst/>
                        <a:latin typeface="inherit"/>
                      </a:endParaRPr>
                    </a:p>
                  </a:txBody>
                  <a:tcPr marL="63500" marR="63500" marT="63500" marB="63500" anchor="ctr"/>
                </a:tc>
                <a:tc>
                  <a:txBody>
                    <a:bodyPr/>
                    <a:lstStyle/>
                    <a:p>
                      <a:pPr algn="l" fontAlgn="base">
                        <a:lnSpc>
                          <a:spcPts val="1650"/>
                        </a:lnSpc>
                        <a:buNone/>
                      </a:pPr>
                      <a:r>
                        <a:rPr lang="en-ID">
                          <a:effectLst/>
                          <a:latin typeface="inherit"/>
                        </a:rPr>
                        <a:t>Define vision, scope, users, tech stack</a:t>
                      </a:r>
                      <a:endParaRPr lang="en-ID">
                        <a:effectLst/>
                        <a:latin typeface="inherit"/>
                      </a:endParaRPr>
                    </a:p>
                  </a:txBody>
                  <a:tcPr marL="63500" marR="63500" marT="63500" marB="63500" anchor="ctr"/>
                </a:tc>
                <a:tc>
                  <a:txBody>
                    <a:bodyPr/>
                    <a:lstStyle/>
                    <a:p>
                      <a:pPr algn="l" fontAlgn="base">
                        <a:lnSpc>
                          <a:spcPts val="1650"/>
                        </a:lnSpc>
                        <a:buNone/>
                      </a:pPr>
                      <a:r>
                        <a:rPr lang="en-ID" dirty="0">
                          <a:effectLst/>
                          <a:latin typeface="inherit"/>
                        </a:rPr>
                        <a:t>Project charter, requirements doc</a:t>
                      </a:r>
                      <a:endParaRPr lang="en-ID" dirty="0">
                        <a:effectLst/>
                        <a:latin typeface="inherit"/>
                      </a:endParaRPr>
                    </a:p>
                  </a:txBody>
                  <a:tcPr marL="63500" marR="63500" marT="63500" marB="6350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208582" y="1253331"/>
            <a:ext cx="10210800" cy="4351338"/>
          </a:xfrm>
        </p:spPr>
        <p:txBody>
          <a:bodyPr>
            <a:normAutofit fontScale="70000" lnSpcReduction="20000"/>
          </a:bodyPr>
          <a:lstStyle/>
          <a:p>
            <a:pPr fontAlgn="base"/>
            <a:r>
              <a:rPr lang="en-US" dirty="0"/>
              <a:t>Adhav, S., Potdar, N., Pawar, U., Uchale, S., &amp; Jagtap, N. (2025). Personalized learning platform: Revolutionizing education through adaptive learning technologies. </a:t>
            </a:r>
            <a:r>
              <a:rPr lang="en-US" i="1" dirty="0"/>
              <a:t>Indian Scientific Journal of Research in Engineering and Management</a:t>
            </a:r>
            <a:r>
              <a:rPr lang="en-US" dirty="0"/>
              <a:t>, </a:t>
            </a:r>
            <a:r>
              <a:rPr lang="en-US" i="1" dirty="0"/>
              <a:t>9</a:t>
            </a:r>
            <a:r>
              <a:rPr lang="en-US" dirty="0"/>
              <a:t>(3), 1–9. </a:t>
            </a:r>
            <a:r>
              <a:rPr lang="en-US" dirty="0">
                <a:hlinkClick r:id="rId1"/>
              </a:rPr>
              <a:t>https://doi.org/10.55041/ijsrem43230</a:t>
            </a:r>
            <a:endParaRPr lang="en-US" dirty="0"/>
          </a:p>
          <a:p>
            <a:pPr fontAlgn="base"/>
            <a:r>
              <a:rPr lang="en-US" dirty="0"/>
              <a:t>Ahmed, F., Rahman, M., &amp; Ali, S. (2024). The role of digital learning ecosystems in improving access to education. </a:t>
            </a:r>
            <a:r>
              <a:rPr lang="en-US" i="1" dirty="0"/>
              <a:t>Journal of Educational Technology</a:t>
            </a:r>
            <a:r>
              <a:rPr lang="en-US" dirty="0"/>
              <a:t>, </a:t>
            </a:r>
            <a:r>
              <a:rPr lang="en-US" i="1" dirty="0"/>
              <a:t>15</a:t>
            </a:r>
            <a:r>
              <a:rPr lang="en-US" dirty="0"/>
              <a:t>(2), 45–58.</a:t>
            </a:r>
            <a:endParaRPr lang="en-US" dirty="0"/>
          </a:p>
          <a:p>
            <a:pPr fontAlgn="base"/>
            <a:r>
              <a:rPr lang="en-US" dirty="0"/>
              <a:t>Belmonte, Z. J., Cruz, C. S. C., De Castro, P. A. P., Estoesta, L. A., Mitra, E. J. A., &amp; Lira, P. E. V. R. (2022). Factors influencing </a:t>
            </a:r>
            <a:r>
              <a:rPr lang="en-US" dirty="0" err="1"/>
              <a:t>technopreneurial</a:t>
            </a:r>
            <a:r>
              <a:rPr lang="en-US" dirty="0"/>
              <a:t> intention among undergraduate engineering students in the Philippines. </a:t>
            </a:r>
            <a:r>
              <a:rPr lang="en-US" i="1" dirty="0"/>
              <a:t>Journal of Engineering Education Transformations</a:t>
            </a:r>
            <a:r>
              <a:rPr lang="en-US" dirty="0"/>
              <a:t>, </a:t>
            </a:r>
            <a:r>
              <a:rPr lang="en-US" i="1" dirty="0"/>
              <a:t>36</a:t>
            </a:r>
            <a:r>
              <a:rPr lang="en-US" dirty="0"/>
              <a:t>(1), 148–157. </a:t>
            </a:r>
            <a:r>
              <a:rPr lang="en-US" dirty="0">
                <a:hlinkClick r:id="rId2"/>
              </a:rPr>
              <a:t>https://doi.org/10.16920/jeet/2022/v36i1/22146</a:t>
            </a:r>
            <a:endParaRPr lang="en-US" dirty="0"/>
          </a:p>
          <a:p>
            <a:pPr fontAlgn="base"/>
            <a:r>
              <a:rPr lang="en-US" dirty="0"/>
              <a:t>Bird, K. (2018). </a:t>
            </a:r>
            <a:r>
              <a:rPr lang="en-US" i="1" dirty="0"/>
              <a:t>Reducing youth not in employment, education, or training through </a:t>
            </a:r>
            <a:r>
              <a:rPr lang="en-US" i="1" dirty="0" err="1"/>
              <a:t>JobStart</a:t>
            </a:r>
            <a:r>
              <a:rPr lang="en-US" i="1" dirty="0"/>
              <a:t> Philippines</a:t>
            </a:r>
            <a:r>
              <a:rPr lang="en-US" dirty="0"/>
              <a:t> (ADB Brief No. 84). Asian Development Bank. </a:t>
            </a:r>
            <a:r>
              <a:rPr lang="en-US" dirty="0">
                <a:hlinkClick r:id="rId3"/>
              </a:rPr>
              <a:t>https://www.adb.org/sites/default/files/publication/396081/adb-brief-084-youth-not-employment.pdf</a:t>
            </a:r>
            <a:endParaRPr lang="en-US" dirty="0"/>
          </a:p>
          <a:p>
            <a:pPr fontAlgn="base"/>
            <a:r>
              <a:rPr lang="en-US" dirty="0"/>
              <a:t>Brown, W., &amp; Smith, J. (2025). Artificial intelligence in adaptive learning systems. </a:t>
            </a:r>
            <a:r>
              <a:rPr lang="en-US" i="1" dirty="0"/>
              <a:t>International Journal of AI in Education</a:t>
            </a:r>
            <a:r>
              <a:rPr lang="en-US" dirty="0"/>
              <a:t>, </a:t>
            </a:r>
            <a:r>
              <a:rPr lang="en-US" i="1" dirty="0"/>
              <a:t>12</a:t>
            </a:r>
            <a:r>
              <a:rPr lang="en-US" dirty="0"/>
              <a:t>(1), 23–41.</a:t>
            </a:r>
            <a:endParaRPr lang="en-US" dirty="0"/>
          </a:p>
          <a:p>
            <a:pPr marL="0" indent="0">
              <a:buNone/>
            </a:pPr>
            <a:endParaRPr lang="en-US" dirty="0"/>
          </a:p>
        </p:txBody>
      </p:sp>
      <p:sp>
        <p:nvSpPr>
          <p:cNvPr id="5" name="Title 1"/>
          <p:cNvSpPr txBox="1">
            <a:spLocks noGrp="1"/>
          </p:cNvSpPr>
          <p:nvPr>
            <p:ph type="title"/>
          </p:nvPr>
        </p:nvSpPr>
        <p:spPr>
          <a:xfrm>
            <a:off x="1274164" y="36512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Literature cited</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10034</Words>
  <Application>WPS Presentation</Application>
  <PresentationFormat>Widescreen</PresentationFormat>
  <Paragraphs>273</Paragraphs>
  <Slides>21</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21</vt:i4>
      </vt:variant>
    </vt:vector>
  </HeadingPairs>
  <TitlesOfParts>
    <vt:vector size="39" baseType="lpstr">
      <vt:lpstr>Arial</vt:lpstr>
      <vt:lpstr>SimSun</vt:lpstr>
      <vt:lpstr>Wingdings</vt:lpstr>
      <vt:lpstr>Tahoma</vt:lpstr>
      <vt:lpstr>Trajan Pro</vt:lpstr>
      <vt:lpstr>PMingLiU-ExtB</vt:lpstr>
      <vt:lpstr>Times New Roman</vt:lpstr>
      <vt:lpstr>Desdemona</vt:lpstr>
      <vt:lpstr>Segoe Print</vt:lpstr>
      <vt:lpstr>Calibri</vt:lpstr>
      <vt:lpstr>Aptos Display</vt:lpstr>
      <vt:lpstr>Segoe UI Variable Display</vt:lpstr>
      <vt:lpstr>Aptos</vt:lpstr>
      <vt:lpstr>Segoe UI</vt:lpstr>
      <vt:lpstr>Microsoft YaHei</vt:lpstr>
      <vt:lpstr>Arial Unicode MS</vt:lpstr>
      <vt:lpstr>inherit</vt:lpstr>
      <vt:lpstr>Office Theme</vt:lpstr>
      <vt:lpstr>“SkillUp: A Personalized Web Learning Portal for Youth Career Development”</vt:lpstr>
      <vt:lpstr>Rationale</vt:lpstr>
      <vt:lpstr>Rationale</vt:lpstr>
      <vt:lpstr>PowerPoint 演示文稿</vt:lpstr>
      <vt:lpstr>PowerPoint 演示文稿</vt:lpstr>
      <vt:lpstr>Scope &amp; Limitation</vt:lpstr>
      <vt:lpstr>PowerPoint 演示文稿</vt:lpstr>
      <vt:lpstr>PowerPoint 演示文稿</vt:lpstr>
      <vt:lpstr>Methodology</vt:lpstr>
      <vt:lpstr>Methodology</vt:lpstr>
      <vt:lpstr>Methodology</vt:lpstr>
      <vt:lpstr>Methodology</vt:lpstr>
      <vt:lpstr>Methodology</vt:lpstr>
      <vt:lpstr>Methodology</vt:lpstr>
      <vt:lpstr>prototype</vt:lpstr>
      <vt:lpstr>PowerPoint 演示文稿</vt:lpstr>
      <vt:lpstr>PowerPoint 演示文稿</vt:lpstr>
      <vt:lpstr>PowerPoint 演示文稿</vt:lpstr>
      <vt:lpstr>implementation plan</vt:lpstr>
      <vt:lpstr>PowerPoint 演示文稿</vt:lpstr>
      <vt:lpstr>Literature cited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Billy Javier</dc:creator>
  <cp:lastModifiedBy>Cj Agustin</cp:lastModifiedBy>
  <cp:revision>27</cp:revision>
  <dcterms:created xsi:type="dcterms:W3CDTF">2024-12-03T05:11:00Z</dcterms:created>
  <dcterms:modified xsi:type="dcterms:W3CDTF">2026-04-06T08:05:46Z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422558B6539C4E3FBC6FF199767EF178_12</vt:lpwstr>
  </property>
  <property fmtid="{D5CDD505-2E9C-101B-9397-08002B2CF9AE}" pid="3" name="KSOProductBuildVer">
    <vt:lpwstr>1033-12.1.0.25242</vt:lpwstr>
  </property>
</Properties>
</file>