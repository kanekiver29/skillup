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9" r:id="rId3"/>
  </p:sldMasterIdLst>
  <p:sldIdLst>
    <p:sldId id="290" r:id="rId4"/>
    <p:sldId id="257" r:id="rId5"/>
    <p:sldId id="268" r:id="rId6"/>
    <p:sldId id="260" r:id="rId7"/>
    <p:sldId id="262" r:id="rId8"/>
    <p:sldId id="270" r:id="rId9"/>
    <p:sldId id="294" r:id="rId10"/>
    <p:sldId id="264" r:id="rId11"/>
    <p:sldId id="271" r:id="rId12"/>
    <p:sldId id="272" r:id="rId13"/>
    <p:sldId id="273" r:id="rId14"/>
    <p:sldId id="274" r:id="rId15"/>
    <p:sldId id="275" r:id="rId16"/>
    <p:sldId id="295" r:id="rId17"/>
    <p:sldId id="267" r:id="rId18"/>
    <p:sldId id="2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63"/>
    <p:restoredTop sz="94650"/>
  </p:normalViewPr>
  <p:slideViewPr>
    <p:cSldViewPr snapToGrid="0">
      <p:cViewPr varScale="1">
        <p:scale>
          <a:sx n="47" d="100"/>
          <a:sy n="47" d="100"/>
        </p:scale>
        <p:origin x="58" y="6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8" name="Group 17"/>
          <p:cNvGrpSpPr/>
          <p:nvPr userDrawn="1"/>
        </p:nvGrpSpPr>
        <p:grpSpPr>
          <a:xfrm>
            <a:off x="-152400" y="333"/>
            <a:ext cx="12516678" cy="7451611"/>
            <a:chOff x="-152400" y="333"/>
            <a:chExt cx="12516678" cy="7451611"/>
          </a:xfrm>
        </p:grpSpPr>
        <p:sp>
          <p:nvSpPr>
            <p:cNvPr id="19" name="Rectangle 18"/>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p:cNvPicPr>
              <a:picLocks noChangeAspect="1"/>
            </p:cNvPicPr>
            <p:nvPr userDrawn="1"/>
          </p:nvPicPr>
          <p:blipFill>
            <a:blip r:embed="rId3"/>
            <a:stretch>
              <a:fillRect/>
            </a:stretch>
          </p:blipFill>
          <p:spPr>
            <a:xfrm>
              <a:off x="4267200" y="6098192"/>
              <a:ext cx="7772400" cy="758116"/>
            </a:xfrm>
            <a:prstGeom prst="rect">
              <a:avLst/>
            </a:prstGeom>
          </p:spPr>
        </p:pic>
        <p:sp>
          <p:nvSpPr>
            <p:cNvPr id="24" name="Rectangle 2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5" name="Rectangle 2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26" name="Rectangle 2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7" name="Rectangle 2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8" name="Rectangle 2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sp>
        <p:nvSpPr>
          <p:cNvPr id="8" name="Rectangle 2"/>
          <p:cNvSpPr>
            <a:spLocks noChangeArrowheads="1"/>
          </p:cNvSpPr>
          <p:nvPr userDrawn="1"/>
        </p:nvSpPr>
        <p:spPr bwMode="auto">
          <a:xfrm flipV="1">
            <a:off x="9781792" y="-6977589"/>
            <a:ext cx="1344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0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9" name="Group 8"/>
          <p:cNvGrpSpPr/>
          <p:nvPr userDrawn="1"/>
        </p:nvGrpSpPr>
        <p:grpSpPr>
          <a:xfrm>
            <a:off x="-152400" y="333"/>
            <a:ext cx="12516678" cy="7451611"/>
            <a:chOff x="-152400" y="333"/>
            <a:chExt cx="12516678" cy="7451611"/>
          </a:xfrm>
        </p:grpSpPr>
        <p:sp>
          <p:nvSpPr>
            <p:cNvPr id="26" name="Rectangle 2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1" name="Rectangle 20"/>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2" name="Rectangle 21"/>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3E42220-01F8-134B-8323-290C1B80F35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009AD5-DD57-E94F-8845-9F89F40609C7}" type="slidenum">
              <a:rPr lang="en-US" smtClean="0"/>
            </a:fld>
            <a:endParaRPr lang="en-US"/>
          </a:p>
        </p:txBody>
      </p:sp>
      <p:grpSp>
        <p:nvGrpSpPr>
          <p:cNvPr id="19" name="Group 18"/>
          <p:cNvGrpSpPr/>
          <p:nvPr userDrawn="1"/>
        </p:nvGrpSpPr>
        <p:grpSpPr>
          <a:xfrm>
            <a:off x="-152400" y="333"/>
            <a:ext cx="12516678" cy="7451611"/>
            <a:chOff x="-152400" y="333"/>
            <a:chExt cx="12516678" cy="7451611"/>
          </a:xfrm>
        </p:grpSpPr>
        <p:sp>
          <p:nvSpPr>
            <p:cNvPr id="20" name="Rectangle 19"/>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3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userDrawn="1"/>
          </p:nvPicPr>
          <p:blipFill>
            <a:blip r:embed="rId3"/>
            <a:stretch>
              <a:fillRect/>
            </a:stretch>
          </p:blipFill>
          <p:spPr>
            <a:xfrm>
              <a:off x="4267200" y="6098192"/>
              <a:ext cx="7772400" cy="758116"/>
            </a:xfrm>
            <a:prstGeom prst="rect">
              <a:avLst/>
            </a:prstGeom>
          </p:spPr>
        </p:pic>
        <p:sp>
          <p:nvSpPr>
            <p:cNvPr id="34" name="Rectangle 3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5" name="Rectangle 3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7" name="Rectangle 3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8" name="Rectangle 3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03E42220-01F8-134B-8323-290C1B80F35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009AD5-DD57-E94F-8845-9F89F40609C7}" type="slidenum">
              <a:rPr lang="en-US" smtClean="0"/>
            </a:fld>
            <a:endParaRPr lang="en-US"/>
          </a:p>
        </p:txBody>
      </p:sp>
      <p:grpSp>
        <p:nvGrpSpPr>
          <p:cNvPr id="15" name="Group 14"/>
          <p:cNvGrpSpPr/>
          <p:nvPr userDrawn="1"/>
        </p:nvGrpSpPr>
        <p:grpSpPr>
          <a:xfrm>
            <a:off x="-152400" y="333"/>
            <a:ext cx="12516678" cy="7451611"/>
            <a:chOff x="-152400" y="333"/>
            <a:chExt cx="12516678" cy="7451611"/>
          </a:xfrm>
        </p:grpSpPr>
        <p:sp>
          <p:nvSpPr>
            <p:cNvPr id="16" name="Rectangle 1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7"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p:cNvPicPr>
              <a:picLocks noChangeAspect="1"/>
            </p:cNvPicPr>
            <p:nvPr userDrawn="1"/>
          </p:nvPicPr>
          <p:blipFill>
            <a:blip r:embed="rId3"/>
            <a:stretch>
              <a:fillRect/>
            </a:stretch>
          </p:blipFill>
          <p:spPr>
            <a:xfrm>
              <a:off x="4267200" y="6098192"/>
              <a:ext cx="7772400" cy="758116"/>
            </a:xfrm>
            <a:prstGeom prst="rect">
              <a:avLst/>
            </a:prstGeom>
          </p:spPr>
        </p:pic>
        <p:sp>
          <p:nvSpPr>
            <p:cNvPr id="30" name="Rectangle 29"/>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1" name="Rectangle 30"/>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42220-01F8-134B-8323-290C1B80F35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009AD5-DD57-E94F-8845-9F89F40609C7}" type="slidenum">
              <a:rPr lang="en-US" smtClean="0"/>
            </a:fld>
            <a:endParaRPr lang="en-US"/>
          </a:p>
        </p:txBody>
      </p:sp>
      <p:grpSp>
        <p:nvGrpSpPr>
          <p:cNvPr id="14" name="Group 13"/>
          <p:cNvGrpSpPr/>
          <p:nvPr userDrawn="1"/>
        </p:nvGrpSpPr>
        <p:grpSpPr>
          <a:xfrm>
            <a:off x="-152400" y="333"/>
            <a:ext cx="12516678" cy="7451611"/>
            <a:chOff x="-152400" y="333"/>
            <a:chExt cx="12516678" cy="7451611"/>
          </a:xfrm>
        </p:grpSpPr>
        <p:sp>
          <p:nvSpPr>
            <p:cNvPr id="15" name="Rectangle 14"/>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6"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userDrawn="1"/>
          </p:nvPicPr>
          <p:blipFill>
            <a:blip r:embed="rId3"/>
            <a:stretch>
              <a:fillRect/>
            </a:stretch>
          </p:blipFill>
          <p:spPr>
            <a:xfrm>
              <a:off x="4267200" y="6098192"/>
              <a:ext cx="7772400" cy="758116"/>
            </a:xfrm>
            <a:prstGeom prst="rect">
              <a:avLst/>
            </a:prstGeom>
          </p:spPr>
        </p:pic>
        <p:sp>
          <p:nvSpPr>
            <p:cNvPr id="29" name="Rectangle 28"/>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0" name="Rectangle 29"/>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1" name="Rectangle 30"/>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8" name="Group 17"/>
          <p:cNvGrpSpPr/>
          <p:nvPr userDrawn="1"/>
        </p:nvGrpSpPr>
        <p:grpSpPr>
          <a:xfrm>
            <a:off x="-152400" y="333"/>
            <a:ext cx="12516678" cy="7451611"/>
            <a:chOff x="-152400" y="333"/>
            <a:chExt cx="12516678" cy="7451611"/>
          </a:xfrm>
        </p:grpSpPr>
        <p:sp>
          <p:nvSpPr>
            <p:cNvPr id="19" name="Rectangle 18"/>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p:cNvPicPr>
              <a:picLocks noChangeAspect="1"/>
            </p:cNvPicPr>
            <p:nvPr userDrawn="1"/>
          </p:nvPicPr>
          <p:blipFill>
            <a:blip r:embed="rId3"/>
            <a:stretch>
              <a:fillRect/>
            </a:stretch>
          </p:blipFill>
          <p:spPr>
            <a:xfrm>
              <a:off x="4267200" y="6098192"/>
              <a:ext cx="7772400" cy="758116"/>
            </a:xfrm>
            <a:prstGeom prst="rect">
              <a:avLst/>
            </a:prstGeom>
          </p:spPr>
        </p:pic>
        <p:sp>
          <p:nvSpPr>
            <p:cNvPr id="24" name="Rectangle 2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5" name="Rectangle 2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26" name="Rectangle 2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7" name="Rectangle 2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8" name="Rectangle 2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sp>
        <p:nvSpPr>
          <p:cNvPr id="8" name="Rectangle 2"/>
          <p:cNvSpPr>
            <a:spLocks noChangeArrowheads="1"/>
          </p:cNvSpPr>
          <p:nvPr userDrawn="1"/>
        </p:nvSpPr>
        <p:spPr bwMode="auto">
          <a:xfrm flipV="1">
            <a:off x="9781792" y="-6977589"/>
            <a:ext cx="13446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000" b="1"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0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9" name="Group 8"/>
          <p:cNvGrpSpPr/>
          <p:nvPr userDrawn="1"/>
        </p:nvGrpSpPr>
        <p:grpSpPr>
          <a:xfrm>
            <a:off x="-152400" y="333"/>
            <a:ext cx="12516678" cy="7451611"/>
            <a:chOff x="-152400" y="333"/>
            <a:chExt cx="12516678" cy="7451611"/>
          </a:xfrm>
        </p:grpSpPr>
        <p:sp>
          <p:nvSpPr>
            <p:cNvPr id="26" name="Rectangle 2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21" name="Rectangle 20"/>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22" name="Rectangle 21"/>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3E42220-01F8-134B-8323-290C1B80F35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009AD5-DD57-E94F-8845-9F89F40609C7}" type="slidenum">
              <a:rPr lang="en-US" smtClean="0"/>
            </a:fld>
            <a:endParaRPr lang="en-US"/>
          </a:p>
        </p:txBody>
      </p:sp>
      <p:grpSp>
        <p:nvGrpSpPr>
          <p:cNvPr id="19" name="Group 18"/>
          <p:cNvGrpSpPr/>
          <p:nvPr userDrawn="1"/>
        </p:nvGrpSpPr>
        <p:grpSpPr>
          <a:xfrm>
            <a:off x="-152400" y="333"/>
            <a:ext cx="12516678" cy="7451611"/>
            <a:chOff x="-152400" y="333"/>
            <a:chExt cx="12516678" cy="7451611"/>
          </a:xfrm>
        </p:grpSpPr>
        <p:sp>
          <p:nvSpPr>
            <p:cNvPr id="20" name="Rectangle 19"/>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31"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p:cNvPicPr>
              <a:picLocks noChangeAspect="1"/>
            </p:cNvPicPr>
            <p:nvPr userDrawn="1"/>
          </p:nvPicPr>
          <p:blipFill>
            <a:blip r:embed="rId3"/>
            <a:stretch>
              <a:fillRect/>
            </a:stretch>
          </p:blipFill>
          <p:spPr>
            <a:xfrm>
              <a:off x="4267200" y="6098192"/>
              <a:ext cx="7772400" cy="758116"/>
            </a:xfrm>
            <a:prstGeom prst="rect">
              <a:avLst/>
            </a:prstGeom>
          </p:spPr>
        </p:pic>
        <p:sp>
          <p:nvSpPr>
            <p:cNvPr id="34" name="Rectangle 33"/>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5" name="Rectangle 34"/>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7" name="Rectangle 36"/>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8" name="Rectangle 37"/>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03E42220-01F8-134B-8323-290C1B80F35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009AD5-DD57-E94F-8845-9F89F40609C7}" type="slidenum">
              <a:rPr lang="en-US" smtClean="0"/>
            </a:fld>
            <a:endParaRPr lang="en-US"/>
          </a:p>
        </p:txBody>
      </p:sp>
      <p:grpSp>
        <p:nvGrpSpPr>
          <p:cNvPr id="15" name="Group 14"/>
          <p:cNvGrpSpPr/>
          <p:nvPr userDrawn="1"/>
        </p:nvGrpSpPr>
        <p:grpSpPr>
          <a:xfrm>
            <a:off x="-152400" y="333"/>
            <a:ext cx="12516678" cy="7451611"/>
            <a:chOff x="-152400" y="333"/>
            <a:chExt cx="12516678" cy="7451611"/>
          </a:xfrm>
        </p:grpSpPr>
        <p:sp>
          <p:nvSpPr>
            <p:cNvPr id="16" name="Rectangle 15"/>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7"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28"/>
            <p:cNvPicPr>
              <a:picLocks noChangeAspect="1"/>
            </p:cNvPicPr>
            <p:nvPr userDrawn="1"/>
          </p:nvPicPr>
          <p:blipFill>
            <a:blip r:embed="rId3"/>
            <a:stretch>
              <a:fillRect/>
            </a:stretch>
          </p:blipFill>
          <p:spPr>
            <a:xfrm>
              <a:off x="4267200" y="6098192"/>
              <a:ext cx="7772400" cy="758116"/>
            </a:xfrm>
            <a:prstGeom prst="rect">
              <a:avLst/>
            </a:prstGeom>
          </p:spPr>
        </p:pic>
        <p:sp>
          <p:nvSpPr>
            <p:cNvPr id="30" name="Rectangle 29"/>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1" name="Rectangle 30"/>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E42220-01F8-134B-8323-290C1B80F35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009AD5-DD57-E94F-8845-9F89F40609C7}" type="slidenum">
              <a:rPr lang="en-US" smtClean="0"/>
            </a:fld>
            <a:endParaRPr lang="en-US"/>
          </a:p>
        </p:txBody>
      </p:sp>
      <p:grpSp>
        <p:nvGrpSpPr>
          <p:cNvPr id="14" name="Group 13"/>
          <p:cNvGrpSpPr/>
          <p:nvPr userDrawn="1"/>
        </p:nvGrpSpPr>
        <p:grpSpPr>
          <a:xfrm>
            <a:off x="-152400" y="333"/>
            <a:ext cx="12516678" cy="7451611"/>
            <a:chOff x="-152400" y="333"/>
            <a:chExt cx="12516678" cy="7451611"/>
          </a:xfrm>
        </p:grpSpPr>
        <p:sp>
          <p:nvSpPr>
            <p:cNvPr id="15" name="Rectangle 14"/>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6"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p:cNvPicPr>
              <a:picLocks noChangeAspect="1"/>
            </p:cNvPicPr>
            <p:nvPr userDrawn="1"/>
          </p:nvPicPr>
          <p:blipFill>
            <a:blip r:embed="rId3"/>
            <a:stretch>
              <a:fillRect/>
            </a:stretch>
          </p:blipFill>
          <p:spPr>
            <a:xfrm>
              <a:off x="4267200" y="6098192"/>
              <a:ext cx="7772400" cy="758116"/>
            </a:xfrm>
            <a:prstGeom prst="rect">
              <a:avLst/>
            </a:prstGeom>
          </p:spPr>
        </p:pic>
        <p:sp>
          <p:nvSpPr>
            <p:cNvPr id="29" name="Rectangle 28"/>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0" name="Rectangle 29"/>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1" name="Rectangle 30"/>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2" name="Rectangle 31"/>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3E42220-01F8-134B-8323-290C1B80F35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009AD5-DD57-E94F-8845-9F89F40609C7}" type="slidenum">
              <a:rPr lang="en-US" smtClean="0"/>
            </a:fld>
            <a:endParaRPr lang="en-US"/>
          </a:p>
        </p:txBody>
      </p:sp>
      <p:grpSp>
        <p:nvGrpSpPr>
          <p:cNvPr id="17" name="Group 16"/>
          <p:cNvGrpSpPr/>
          <p:nvPr userDrawn="1"/>
        </p:nvGrpSpPr>
        <p:grpSpPr>
          <a:xfrm>
            <a:off x="-152400" y="333"/>
            <a:ext cx="12516678" cy="7451611"/>
            <a:chOff x="-152400" y="333"/>
            <a:chExt cx="12516678" cy="7451611"/>
          </a:xfrm>
        </p:grpSpPr>
        <p:sp>
          <p:nvSpPr>
            <p:cNvPr id="18" name="Rectangle 1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9"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p:cNvPicPr>
              <a:picLocks noChangeAspect="1"/>
            </p:cNvPicPr>
            <p:nvPr userDrawn="1"/>
          </p:nvPicPr>
          <p:blipFill>
            <a:blip r:embed="rId3"/>
            <a:stretch>
              <a:fillRect/>
            </a:stretch>
          </p:blipFill>
          <p:spPr>
            <a:xfrm>
              <a:off x="4267200" y="6098192"/>
              <a:ext cx="7772400" cy="758116"/>
            </a:xfrm>
            <a:prstGeom prst="rect">
              <a:avLst/>
            </a:prstGeom>
          </p:spPr>
        </p:pic>
        <p:sp>
          <p:nvSpPr>
            <p:cNvPr id="32" name="Rectangle 31"/>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Rectangle 32"/>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6" name="Rectangle 35"/>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3E42220-01F8-134B-8323-290C1B80F35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009AD5-DD57-E94F-8845-9F89F40609C7}" type="slidenum">
              <a:rPr lang="en-US" smtClean="0"/>
            </a:fld>
            <a:endParaRPr lang="en-US"/>
          </a:p>
        </p:txBody>
      </p:sp>
      <p:grpSp>
        <p:nvGrpSpPr>
          <p:cNvPr id="16" name="Group 15"/>
          <p:cNvGrpSpPr/>
          <p:nvPr userDrawn="1"/>
        </p:nvGrpSpPr>
        <p:grpSpPr>
          <a:xfrm>
            <a:off x="-152400" y="333"/>
            <a:ext cx="12516678" cy="7451611"/>
            <a:chOff x="-152400" y="333"/>
            <a:chExt cx="12516678" cy="7451611"/>
          </a:xfrm>
        </p:grpSpPr>
        <p:sp>
          <p:nvSpPr>
            <p:cNvPr id="17" name="Rectangle 16"/>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1" descr="csu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28"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userDrawn="1"/>
          </p:nvPicPr>
          <p:blipFill>
            <a:blip r:embed="rId3"/>
            <a:stretch>
              <a:fillRect/>
            </a:stretch>
          </p:blipFill>
          <p:spPr>
            <a:xfrm>
              <a:off x="4267200" y="6098192"/>
              <a:ext cx="7772400" cy="758116"/>
            </a:xfrm>
            <a:prstGeom prst="rect">
              <a:avLst/>
            </a:prstGeom>
          </p:spPr>
        </p:pic>
        <p:sp>
          <p:nvSpPr>
            <p:cNvPr id="31" name="Rectangle 30"/>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2" name="Rectangle 31"/>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33" name="Rectangle 32"/>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34" name="Rectangle 33"/>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35" name="Rectangle 34"/>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3" Type="http://schemas.openxmlformats.org/officeDocument/2006/relationships/theme" Target="../theme/theme2.xml"/><Relationship Id="rId12" Type="http://schemas.openxmlformats.org/officeDocument/2006/relationships/image" Target="../media/image2.png"/><Relationship Id="rId11" Type="http://schemas.openxmlformats.org/officeDocument/2006/relationships/image" Target="../media/image1.png"/><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E42220-01F8-134B-8323-290C1B80F35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09AD5-DD57-E94F-8845-9F89F40609C7}" type="slidenum">
              <a:rPr lang="en-US" smtClean="0"/>
            </a:fld>
            <a:endParaRPr lang="en-US"/>
          </a:p>
        </p:txBody>
      </p:sp>
      <p:grpSp>
        <p:nvGrpSpPr>
          <p:cNvPr id="7" name="Group 6"/>
          <p:cNvGrpSpPr/>
          <p:nvPr userDrawn="1"/>
        </p:nvGrpSpPr>
        <p:grpSpPr>
          <a:xfrm>
            <a:off x="-152400" y="333"/>
            <a:ext cx="12516678" cy="7451611"/>
            <a:chOff x="-152400" y="333"/>
            <a:chExt cx="12516678" cy="7451611"/>
          </a:xfrm>
        </p:grpSpPr>
        <p:sp>
          <p:nvSpPr>
            <p:cNvPr id="8" name="Rectangle 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 descr="csu logo"/>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10"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12"/>
            <a:stretch>
              <a:fillRect/>
            </a:stretch>
          </p:blipFill>
          <p:spPr>
            <a:xfrm>
              <a:off x="4267200" y="6098192"/>
              <a:ext cx="7772400" cy="758116"/>
            </a:xfrm>
            <a:prstGeom prst="rect">
              <a:avLst/>
            </a:prstGeom>
          </p:spPr>
        </p:pic>
        <p:sp>
          <p:nvSpPr>
            <p:cNvPr id="13" name="Rectangle 12"/>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4" name="Rectangle 13"/>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15" name="Rectangle 14"/>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16" name="Rectangle 15"/>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17" name="Rectangle 16"/>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E42220-01F8-134B-8323-290C1B80F35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009AD5-DD57-E94F-8845-9F89F40609C7}" type="slidenum">
              <a:rPr lang="en-US" smtClean="0"/>
            </a:fld>
            <a:endParaRPr lang="en-US"/>
          </a:p>
        </p:txBody>
      </p:sp>
      <p:grpSp>
        <p:nvGrpSpPr>
          <p:cNvPr id="7" name="Group 6"/>
          <p:cNvGrpSpPr/>
          <p:nvPr userDrawn="1"/>
        </p:nvGrpSpPr>
        <p:grpSpPr>
          <a:xfrm>
            <a:off x="-152400" y="333"/>
            <a:ext cx="12516678" cy="7451611"/>
            <a:chOff x="-152400" y="333"/>
            <a:chExt cx="12516678" cy="7451611"/>
          </a:xfrm>
        </p:grpSpPr>
        <p:sp>
          <p:nvSpPr>
            <p:cNvPr id="8" name="Rectangle 7"/>
            <p:cNvSpPr/>
            <p:nvPr userDrawn="1"/>
          </p:nvSpPr>
          <p:spPr>
            <a:xfrm>
              <a:off x="0" y="333"/>
              <a:ext cx="1112317" cy="68716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1" descr="csu logo"/>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6895" y="187127"/>
              <a:ext cx="898525" cy="898525"/>
            </a:xfrm>
            <a:prstGeom prst="rect">
              <a:avLst/>
            </a:prstGeom>
            <a:noFill/>
            <a:extLst>
              <a:ext uri="{909E8E84-426E-40DD-AFC4-6F175D3DCCD1}">
                <a14:hiddenFill xmlns:a14="http://schemas.microsoft.com/office/drawing/2010/main">
                  <a:solidFill>
                    <a:srgbClr val="FFFFFF"/>
                  </a:solidFill>
                </a14:hiddenFill>
              </a:ext>
            </a:extLst>
          </p:spPr>
        </p:pic>
        <p:sp>
          <p:nvSpPr>
            <p:cNvPr id="10" name="Round Diagonal Corner Rectangle 27"/>
            <p:cNvSpPr/>
            <p:nvPr userDrawn="1"/>
          </p:nvSpPr>
          <p:spPr>
            <a:xfrm flipH="1">
              <a:off x="-152400" y="5897239"/>
              <a:ext cx="4267200"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 Diagonal Corner Rectangle 28"/>
            <p:cNvSpPr/>
            <p:nvPr userDrawn="1"/>
          </p:nvSpPr>
          <p:spPr>
            <a:xfrm flipH="1">
              <a:off x="3886200" y="6260672"/>
              <a:ext cx="8478078" cy="1191272"/>
            </a:xfrm>
            <a:prstGeom prst="round2Diag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12"/>
            <a:stretch>
              <a:fillRect/>
            </a:stretch>
          </p:blipFill>
          <p:spPr>
            <a:xfrm>
              <a:off x="4267200" y="6098192"/>
              <a:ext cx="7772400" cy="758116"/>
            </a:xfrm>
            <a:prstGeom prst="rect">
              <a:avLst/>
            </a:prstGeom>
          </p:spPr>
        </p:pic>
        <p:sp>
          <p:nvSpPr>
            <p:cNvPr id="13" name="Rectangle 12"/>
            <p:cNvSpPr/>
            <p:nvPr userDrawn="1"/>
          </p:nvSpPr>
          <p:spPr>
            <a:xfrm>
              <a:off x="813314" y="5813898"/>
              <a:ext cx="3580786" cy="1015663"/>
            </a:xfrm>
            <a:prstGeom prst="rect">
              <a:avLst/>
            </a:prstGeom>
            <a:noFill/>
          </p:spPr>
          <p:txBody>
            <a:bodyPr wrap="square" lIns="91440" tIns="45720" rIns="91440" bIns="45720">
              <a:spAutoFit/>
            </a:bodyPr>
            <a:lstStyle/>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Bachelor of</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Science in</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a:p>
              <a:pPr algn="l"/>
              <a:r>
                <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Information Technology</a:t>
              </a:r>
              <a:endParaRPr lang="en-US" sz="2000" b="1" cap="none" spc="0" dirty="0">
                <a:ln w="0"/>
                <a:solidFill>
                  <a:schemeClr val="bg1"/>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14" name="Rectangle 13"/>
            <p:cNvSpPr/>
            <p:nvPr userDrawn="1"/>
          </p:nvSpPr>
          <p:spPr>
            <a:xfrm>
              <a:off x="-26068" y="5761386"/>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FF00"/>
                </a:solidFill>
                <a:effectLst>
                  <a:outerShdw dist="38100" dir="2700000" algn="bl" rotWithShape="0">
                    <a:schemeClr val="accent5"/>
                  </a:outerShdw>
                </a:effectLst>
                <a:latin typeface="Trajan Pro" panose="02020502050506020301" pitchFamily="18" charset="0"/>
              </a:endParaRPr>
            </a:p>
          </p:txBody>
        </p:sp>
        <p:sp>
          <p:nvSpPr>
            <p:cNvPr id="15" name="Rectangle 14"/>
            <p:cNvSpPr/>
            <p:nvPr userDrawn="1"/>
          </p:nvSpPr>
          <p:spPr>
            <a:xfrm>
              <a:off x="374082" y="6213987"/>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rPr>
                <a:t>S</a:t>
              </a:r>
              <a:endParaRPr lang="en-US" sz="4400" b="1" cap="none" spc="0" dirty="0">
                <a:ln w="13462">
                  <a:solidFill>
                    <a:schemeClr val="bg1"/>
                  </a:solidFill>
                  <a:prstDash val="solid"/>
                </a:ln>
                <a:solidFill>
                  <a:schemeClr val="accent3">
                    <a:lumMod val="60000"/>
                    <a:lumOff val="40000"/>
                  </a:schemeClr>
                </a:solidFill>
                <a:effectLst>
                  <a:outerShdw dist="38100" dir="2700000" algn="bl" rotWithShape="0">
                    <a:schemeClr val="accent5"/>
                  </a:outerShdw>
                </a:effectLst>
                <a:latin typeface="Trajan Pro" panose="02020502050506020301" pitchFamily="18" charset="0"/>
              </a:endParaRPr>
            </a:p>
          </p:txBody>
        </p:sp>
        <p:sp>
          <p:nvSpPr>
            <p:cNvPr id="16" name="Rectangle 15"/>
            <p:cNvSpPr/>
            <p:nvPr userDrawn="1"/>
          </p:nvSpPr>
          <p:spPr>
            <a:xfrm>
              <a:off x="-50954" y="6210781"/>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rPr>
                <a:t>C</a:t>
              </a:r>
              <a:endParaRPr lang="en-US" sz="4400" b="1" cap="none" spc="0" dirty="0">
                <a:ln w="13462">
                  <a:solidFill>
                    <a:schemeClr val="bg1"/>
                  </a:solidFill>
                  <a:prstDash val="solid"/>
                </a:ln>
                <a:solidFill>
                  <a:srgbClr val="FF0000"/>
                </a:solidFill>
                <a:effectLst>
                  <a:outerShdw dist="38100" dir="2700000" algn="bl" rotWithShape="0">
                    <a:schemeClr val="accent5"/>
                  </a:outerShdw>
                </a:effectLst>
                <a:latin typeface="Trajan Pro" panose="02020502050506020301" pitchFamily="18" charset="0"/>
              </a:endParaRPr>
            </a:p>
          </p:txBody>
        </p:sp>
        <p:sp>
          <p:nvSpPr>
            <p:cNvPr id="17" name="Rectangle 16"/>
            <p:cNvSpPr/>
            <p:nvPr userDrawn="1"/>
          </p:nvSpPr>
          <p:spPr>
            <a:xfrm>
              <a:off x="361322" y="5762302"/>
              <a:ext cx="612202" cy="769441"/>
            </a:xfrm>
            <a:prstGeom prst="rect">
              <a:avLst/>
            </a:prstGeom>
            <a:noFill/>
          </p:spPr>
          <p:txBody>
            <a:bodyPr wrap="square" lIns="91440" tIns="45720" rIns="91440" bIns="45720">
              <a:spAutoFit/>
            </a:bodyPr>
            <a:lstStyle/>
            <a:p>
              <a:pPr algn="ctr"/>
              <a:r>
                <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rPr>
                <a:t>I</a:t>
              </a:r>
              <a:endParaRPr lang="en-US" sz="4400" b="1" cap="none" spc="0" dirty="0">
                <a:ln w="13462">
                  <a:solidFill>
                    <a:schemeClr val="bg1"/>
                  </a:solidFill>
                  <a:prstDash val="solid"/>
                </a:ln>
                <a:solidFill>
                  <a:srgbClr val="00B0F0"/>
                </a:solidFill>
                <a:effectLst>
                  <a:outerShdw dist="38100" dir="2700000" algn="bl" rotWithShape="0">
                    <a:schemeClr val="accent5"/>
                  </a:outerShdw>
                </a:effectLst>
                <a:latin typeface="Trajan Pro" panose="02020502050506020301" pitchFamily="18" charset="0"/>
              </a:endParaRPr>
            </a:p>
          </p:txBody>
        </p:sp>
      </p:gr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nSpc>
                <a:spcPct val="107000"/>
              </a:lnSpc>
              <a:spcAft>
                <a:spcPts val="800"/>
              </a:spcAft>
            </a:pPr>
            <a:r>
              <a:rPr lang="en-PH" sz="3200" b="1" dirty="0">
                <a:effectLst/>
                <a:latin typeface="Tahoma" panose="020B0604030504040204" pitchFamily="34" charset="0"/>
                <a:ea typeface="Times New Roman" panose="02020603050405020304" pitchFamily="18" charset="0"/>
                <a:cs typeface="Times New Roman" panose="02020603050405020304" pitchFamily="18" charset="0"/>
              </a:rPr>
              <a:t>“</a:t>
            </a:r>
            <a:r>
              <a:rPr lang="en-US" altLang="en-US" sz="3200" b="1" dirty="0">
                <a:effectLst/>
                <a:latin typeface="Tahoma" panose="020B0604030504040204" pitchFamily="34" charset="0"/>
                <a:ea typeface="Times New Roman" panose="02020603050405020304" pitchFamily="18" charset="0"/>
                <a:cs typeface="Times New Roman" panose="02020603050405020304" pitchFamily="18" charset="0"/>
              </a:rPr>
              <a:t>Tres marias: Developing a Progressive Web App (PWA) for Hyper-Local Bakery Delivery and Pre-orders</a:t>
            </a:r>
            <a:r>
              <a:rPr lang="en-PH" sz="3200" b="1" dirty="0">
                <a:effectLst/>
                <a:latin typeface="Tahoma" panose="020B0604030504040204" pitchFamily="34" charset="0"/>
                <a:ea typeface="Times New Roman" panose="02020603050405020304" pitchFamily="18" charset="0"/>
                <a:cs typeface="Times New Roman" panose="02020603050405020304" pitchFamily="18" charset="0"/>
              </a:rPr>
              <a:t>”</a:t>
            </a:r>
            <a:endParaRPr lang="en-US" sz="8800" dirty="0"/>
          </a:p>
        </p:txBody>
      </p:sp>
      <p:sp>
        <p:nvSpPr>
          <p:cNvPr id="3" name="Subtitle 2"/>
          <p:cNvSpPr>
            <a:spLocks noGrp="1"/>
          </p:cNvSpPr>
          <p:nvPr>
            <p:ph type="subTitle" idx="1"/>
          </p:nvPr>
        </p:nvSpPr>
        <p:spPr>
          <a:xfrm>
            <a:off x="1524000" y="4265226"/>
            <a:ext cx="9144000" cy="1655762"/>
          </a:xfrm>
        </p:spPr>
        <p:txBody>
          <a:bodyPr/>
          <a:lstStyle/>
          <a:p>
            <a:pPr>
              <a:lnSpc>
                <a:spcPct val="100000"/>
              </a:lnSpc>
              <a:spcBef>
                <a:spcPts val="0"/>
              </a:spcBef>
            </a:pPr>
            <a:r>
              <a:rPr lang="en-US" altLang="en-US" dirty="0">
                <a:latin typeface="Tahoma" panose="020B0604030504040204" pitchFamily="34" charset="0"/>
                <a:ea typeface="Tahoma" panose="020B0604030504040204" pitchFamily="34" charset="0"/>
                <a:cs typeface="Tahoma" panose="020B0604030504040204" pitchFamily="34" charset="0"/>
              </a:rPr>
              <a:t>AREOLA DENVER O.</a:t>
            </a:r>
            <a:r>
              <a:rPr lang="en-PH" altLang="en-US" dirty="0">
                <a:latin typeface="Tahoma" panose="020B0604030504040204" pitchFamily="34" charset="0"/>
                <a:ea typeface="Tahoma" panose="020B0604030504040204" pitchFamily="34" charset="0"/>
                <a:cs typeface="Tahoma" panose="020B0604030504040204" pitchFamily="34" charset="0"/>
              </a:rPr>
              <a:t>(WEB)</a:t>
            </a:r>
            <a:endParaRPr lang="en-US" alt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altLang="en-US" dirty="0">
                <a:latin typeface="Tahoma" panose="020B0604030504040204" pitchFamily="34" charset="0"/>
                <a:ea typeface="Tahoma" panose="020B0604030504040204" pitchFamily="34" charset="0"/>
                <a:cs typeface="Tahoma" panose="020B0604030504040204" pitchFamily="34" charset="0"/>
              </a:rPr>
              <a:t>BALANZA JOHN BENEDICT Q.</a:t>
            </a:r>
            <a:r>
              <a:rPr lang="en-PH" altLang="en-US" dirty="0">
                <a:latin typeface="Tahoma" panose="020B0604030504040204" pitchFamily="34" charset="0"/>
                <a:ea typeface="Tahoma" panose="020B0604030504040204" pitchFamily="34" charset="0"/>
                <a:cs typeface="Tahoma" panose="020B0604030504040204" pitchFamily="34" charset="0"/>
                <a:sym typeface="+mn-ea"/>
              </a:rPr>
              <a:t>(WEB)</a:t>
            </a:r>
            <a:endParaRPr lang="en-US" alt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altLang="en-US" dirty="0">
                <a:latin typeface="Tahoma" panose="020B0604030504040204" pitchFamily="34" charset="0"/>
                <a:ea typeface="Tahoma" panose="020B0604030504040204" pitchFamily="34" charset="0"/>
                <a:cs typeface="Tahoma" panose="020B0604030504040204" pitchFamily="34" charset="0"/>
              </a:rPr>
              <a:t>ANAGARAN RAJAN P.</a:t>
            </a:r>
            <a:r>
              <a:rPr lang="en-PH" altLang="en-US" dirty="0">
                <a:latin typeface="Tahoma" panose="020B0604030504040204" pitchFamily="34" charset="0"/>
                <a:ea typeface="Tahoma" panose="020B0604030504040204" pitchFamily="34" charset="0"/>
                <a:cs typeface="Tahoma" panose="020B0604030504040204" pitchFamily="34" charset="0"/>
                <a:sym typeface="+mn-ea"/>
              </a:rPr>
              <a:t>(WEB)</a:t>
            </a:r>
            <a:endParaRPr lang="en-US" altLang="en-US" dirty="0">
              <a:latin typeface="Tahoma" panose="020B0604030504040204" pitchFamily="34" charset="0"/>
              <a:ea typeface="Tahoma" panose="020B0604030504040204" pitchFamily="34" charset="0"/>
              <a:cs typeface="Tahoma" panose="020B0604030504040204" pitchFamily="34" charset="0"/>
            </a:endParaRPr>
          </a:p>
          <a:p>
            <a:pPr>
              <a:lnSpc>
                <a:spcPct val="100000"/>
              </a:lnSpc>
              <a:spcBef>
                <a:spcPts val="0"/>
              </a:spcBef>
            </a:pPr>
            <a:r>
              <a:rPr lang="en-US" dirty="0">
                <a:latin typeface="Tahoma" panose="020B0604030504040204" pitchFamily="34" charset="0"/>
                <a:ea typeface="Tahoma" panose="020B0604030504040204" pitchFamily="34" charset="0"/>
                <a:cs typeface="Tahoma" panose="020B0604030504040204" pitchFamily="34" charset="0"/>
              </a:rPr>
              <a:t>College of Information and Computing Sciences</a:t>
            </a:r>
            <a:endParaRPr lang="en-US"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9833"/>
    </mc:Choice>
    <mc:Fallback>
      <p:transition spd="slow" advTm="983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txBox="1">
            <a:spLocks noGrp="1"/>
          </p:cNvSpPr>
          <p:nvPr>
            <p:ph type="title"/>
          </p:nvPr>
        </p:nvSpPr>
        <p:spPr>
          <a:xfrm>
            <a:off x="113800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Rationale</a:t>
            </a:r>
            <a:endParaRPr lang="en-US" b="1" dirty="0">
              <a:ln>
                <a:solidFill>
                  <a:schemeClr val="tx1"/>
                </a:solidFill>
              </a:ln>
              <a:latin typeface="Desdemona" pitchFamily="82" charset="77"/>
            </a:endParaRPr>
          </a:p>
        </p:txBody>
      </p:sp>
      <p:sp>
        <p:nvSpPr>
          <p:cNvPr id="13" name="Content Placeholder 12"/>
          <p:cNvSpPr>
            <a:spLocks noGrp="1"/>
          </p:cNvSpPr>
          <p:nvPr>
            <p:ph sz="half" idx="1"/>
          </p:nvPr>
        </p:nvSpPr>
        <p:spPr>
          <a:xfrm>
            <a:off x="1275715" y="1004570"/>
            <a:ext cx="10833735" cy="4846320"/>
          </a:xfrm>
        </p:spPr>
        <p:txBody>
          <a:bodyPr>
            <a:normAutofit fontScale="90000"/>
          </a:bodyPr>
          <a:lstStyle/>
          <a:p>
            <a:pPr marL="0" indent="0">
              <a:buNone/>
            </a:pPr>
            <a:r>
              <a:rPr lang="en-US" altLang="en-US" dirty="0"/>
              <a:t>The study identifies a gap in affordable and integrated digital solutions for small, hyper-local bakeries, as existing platforms are often costly and designed for large businesses, while manual processes lead to inefficiency, errors, and poor inventory tracking with limited support for real-time updates and delivery. This project is necessary to modernize bakery operations through digital transformation, as traditional methods cause delays, inaccuracies, and lost sales, making it difficult for small businesses to compete; thus, a Progressive Web App (PWA) offers a cost-effective solution to improve efficiency, accessibility, and customer satisfaction. Furthermore, the study supports SDG 8: Decent Work and Economic Growth** by promoting productivity, enabling small business growth through digital innovation, strengthening local commerce, and contributing to sustainable economic development.</a:t>
            </a:r>
            <a:endParaRPr lang="en-US" altLang="en-US" dirty="0"/>
          </a:p>
          <a:p>
            <a:pPr marL="0" indent="0">
              <a:buNone/>
            </a:pPr>
            <a:endParaRPr lang="en-US"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2156"/>
    </mc:Choice>
    <mc:Fallback>
      <p:transition spd="slow" advTm="2156"/>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sz="half" idx="1"/>
          </p:nvPr>
        </p:nvGraphicFramePr>
        <p:xfrm>
          <a:off x="1280577" y="1062981"/>
          <a:ext cx="10230788" cy="4016946"/>
        </p:xfrm>
        <a:graphic>
          <a:graphicData uri="http://schemas.openxmlformats.org/drawingml/2006/table">
            <a:tbl>
              <a:tblPr firstRow="1" bandRow="1">
                <a:tableStyleId>{5C22544A-7EE6-4342-B048-85BDC9FD1C3A}</a:tableStyleId>
              </a:tblPr>
              <a:tblGrid>
                <a:gridCol w="2557697"/>
                <a:gridCol w="2557697"/>
                <a:gridCol w="2557697"/>
                <a:gridCol w="2557697"/>
              </a:tblGrid>
              <a:tr h="666375">
                <a:tc>
                  <a:txBody>
                    <a:bodyPr/>
                    <a:lstStyle/>
                    <a:p>
                      <a:pPr algn="ctr"/>
                      <a:r>
                        <a:rPr lang="en-US" dirty="0"/>
                        <a:t>NEED</a:t>
                      </a:r>
                      <a:endParaRPr lang="en-US" dirty="0"/>
                    </a:p>
                  </a:txBody>
                  <a:tcPr/>
                </a:tc>
                <a:tc>
                  <a:txBody>
                    <a:bodyPr/>
                    <a:lstStyle/>
                    <a:p>
                      <a:pPr algn="ctr"/>
                      <a:r>
                        <a:rPr lang="en-US" dirty="0"/>
                        <a:t>SOLUTION</a:t>
                      </a:r>
                      <a:endParaRPr lang="en-US" dirty="0"/>
                    </a:p>
                  </a:txBody>
                  <a:tcPr/>
                </a:tc>
                <a:tc>
                  <a:txBody>
                    <a:bodyPr/>
                    <a:lstStyle/>
                    <a:p>
                      <a:pPr algn="ctr"/>
                      <a:r>
                        <a:rPr lang="en-US" dirty="0"/>
                        <a:t>BENEFIT</a:t>
                      </a:r>
                      <a:endParaRPr lang="en-US" dirty="0"/>
                    </a:p>
                  </a:txBody>
                  <a:tcPr/>
                </a:tc>
                <a:tc>
                  <a:txBody>
                    <a:bodyPr/>
                    <a:lstStyle/>
                    <a:p>
                      <a:pPr algn="ctr"/>
                      <a:r>
                        <a:rPr lang="en-US" dirty="0"/>
                        <a:t>DIFFERENTIATION</a:t>
                      </a:r>
                      <a:endParaRPr lang="en-US" dirty="0"/>
                    </a:p>
                  </a:txBody>
                  <a:tcPr/>
                </a:tc>
              </a:tr>
              <a:tr h="1153966">
                <a:tc>
                  <a:txBody>
                    <a:bodyPr/>
                    <a:lstStyle/>
                    <a:p>
                      <a:r>
                        <a:rPr lang="en-PH" sz="1500"/>
                        <a:t>M</a:t>
                      </a:r>
                      <a:r>
                        <a:rPr sz="1500"/>
                        <a:t>anual ordering and record-keeping cause errors and delays</a:t>
                      </a:r>
                      <a:endParaRPr sz="1500"/>
                    </a:p>
                  </a:txBody>
                  <a:tcPr marL="0" marR="0" marT="0" marB="0" anchor="ctr" anchorCtr="0"/>
                </a:tc>
                <a:tc>
                  <a:txBody>
                    <a:bodyPr/>
                    <a:lstStyle/>
                    <a:p>
                      <a:r>
                        <a:rPr sz="1500"/>
                        <a:t>Develop a PWA with digital ordering and automated records</a:t>
                      </a:r>
                      <a:endParaRPr sz="1500"/>
                    </a:p>
                  </a:txBody>
                  <a:tcPr marL="0" marR="0" marT="0" marB="0" anchor="ctr" anchorCtr="0"/>
                </a:tc>
                <a:tc>
                  <a:txBody>
                    <a:bodyPr/>
                    <a:lstStyle/>
                    <a:p>
                      <a:r>
                        <a:rPr sz="1500"/>
                        <a:t>Faster transactions and reduced human error</a:t>
                      </a:r>
                      <a:endParaRPr sz="1500"/>
                    </a:p>
                  </a:txBody>
                  <a:tcPr marL="0" marR="0" marT="0" marB="0" anchor="ctr" anchorCtr="0"/>
                </a:tc>
                <a:tc>
                  <a:txBody>
                    <a:bodyPr/>
                    <a:lstStyle/>
                    <a:p>
                      <a:r>
                        <a:rPr sz="1500"/>
                        <a:t>Tailored specifically for small, local bakeries</a:t>
                      </a:r>
                      <a:endParaRPr sz="1500"/>
                    </a:p>
                  </a:txBody>
                  <a:tcPr marL="0" marR="0" marT="0" marB="0" anchor="ctr" anchorCtr="0"/>
                </a:tc>
              </a:tr>
              <a:tr h="2196605">
                <a:tc>
                  <a:txBody>
                    <a:bodyPr/>
                    <a:lstStyle/>
                    <a:p>
                      <a:r>
                        <a:rPr sz="1500"/>
                        <a:t>anual ordering and record-keeping cause errors and delays</a:t>
                      </a:r>
                      <a:endParaRPr sz="1500"/>
                    </a:p>
                  </a:txBody>
                  <a:tcPr marL="0" marR="0" marT="0" marB="0" anchor="ctr" anchorCtr="0"/>
                </a:tc>
                <a:tc>
                  <a:txBody>
                    <a:bodyPr/>
                    <a:lstStyle/>
                    <a:p>
                      <a:r>
                        <a:rPr sz="1500"/>
                        <a:t>Develop a PWA with digital ordering and automated records</a:t>
                      </a:r>
                      <a:endParaRPr sz="1500"/>
                    </a:p>
                  </a:txBody>
                  <a:tcPr marL="0" marR="0" marT="0" marB="0" anchor="ctr" anchorCtr="0"/>
                </a:tc>
                <a:tc>
                  <a:txBody>
                    <a:bodyPr/>
                    <a:lstStyle/>
                    <a:p>
                      <a:r>
                        <a:rPr sz="1500"/>
                        <a:t>Faster transactions and reduced human error</a:t>
                      </a:r>
                      <a:endParaRPr sz="1500"/>
                    </a:p>
                  </a:txBody>
                  <a:tcPr marL="0" marR="0" marT="0" marB="0" anchor="ctr" anchorCtr="0"/>
                </a:tc>
                <a:tc>
                  <a:txBody>
                    <a:bodyPr/>
                    <a:lstStyle/>
                    <a:p>
                      <a:r>
                        <a:rPr sz="1500"/>
                        <a:t>Tailored specifically for small, local bakeries</a:t>
                      </a:r>
                      <a:endParaRPr sz="1500"/>
                    </a:p>
                  </a:txBody>
                  <a:tcPr marL="0" marR="0" marT="0" marB="0" anchor="ctr" anchorCtr="0"/>
                </a:tc>
              </a:tr>
            </a:tbl>
          </a:graphicData>
        </a:graphic>
      </p:graphicFrame>
      <p:sp>
        <p:nvSpPr>
          <p:cNvPr id="11" name="Title 1"/>
          <p:cNvSpPr txBox="1">
            <a:spLocks noGrp="1"/>
          </p:cNvSpPr>
          <p:nvPr>
            <p:ph type="title"/>
          </p:nvPr>
        </p:nvSpPr>
        <p:spPr>
          <a:xfrm>
            <a:off x="1138003"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Rationale</a:t>
            </a:r>
            <a:endParaRPr lang="en-US" b="1" dirty="0">
              <a:ln>
                <a:solidFill>
                  <a:schemeClr val="tx1"/>
                </a:solidFill>
              </a:ln>
              <a:latin typeface="Desdemona" pitchFamily="82" charset="77"/>
            </a:endParaRPr>
          </a:p>
        </p:txBody>
      </p:sp>
    </p:spTree>
  </p:cSld>
  <p:clrMapOvr>
    <a:masterClrMapping/>
  </p:clrMapOvr>
  <mc:AlternateContent xmlns:mc="http://schemas.openxmlformats.org/markup-compatibility/2006">
    <mc:Choice xmlns:p14="http://schemas.microsoft.com/office/powerpoint/2010/main" Requires="p14">
      <p:transition spd="slow" p14:dur="2000" advTm="2156"/>
    </mc:Choice>
    <mc:Fallback>
      <p:transition spd="slow" advTm="215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60449" y="1357273"/>
            <a:ext cx="10515600" cy="4667250"/>
          </a:xfrm>
        </p:spPr>
        <p:txBody>
          <a:bodyPr>
            <a:noAutofit/>
          </a:bodyPr>
          <a:lstStyle/>
          <a:p>
            <a:pPr marL="0" lvl="0" indent="0" algn="just">
              <a:lnSpc>
                <a:spcPct val="100000"/>
              </a:lnSpc>
              <a:spcBef>
                <a:spcPts val="0"/>
              </a:spcBef>
              <a:buFontTx/>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General Objective</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develop a Progressive Web Application (PWA) that improves bakery ordering, inventory management, and hyper-local delivery services.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FontTx/>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Specific Objectives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identify current problems in manual bakery operations.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design a system for pre-orders and delivery management.</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develop a PWA with real-time inventory and tracking features.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evaluate the system using ISO/IEC 25010 standards.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lvl="0" algn="just">
              <a:lnSpc>
                <a:spcPct val="100000"/>
              </a:lnSpc>
              <a:spcBef>
                <a:spcPts val="0"/>
              </a:spcBef>
              <a:buFontTx/>
              <a:buChar char="-"/>
            </a:pPr>
            <a:r>
              <a:rPr lang="en-US" altLang="en-US" sz="2400" dirty="0">
                <a:effectLst/>
                <a:latin typeface="Tahoma" panose="020B0604030504040204" pitchFamily="34" charset="0"/>
                <a:ea typeface="Tahoma" panose="020B0604030504040204" pitchFamily="34" charset="0"/>
                <a:cs typeface="Tahoma" panose="020B0604030504040204" pitchFamily="34" charset="0"/>
              </a:rPr>
              <a:t>To assess user acceptance using UTAUT2 model.</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objectives</a:t>
            </a:r>
            <a:endParaRPr lang="en-US" b="1" dirty="0">
              <a:ln>
                <a:solidFill>
                  <a:schemeClr val="tx1"/>
                </a:solidFill>
              </a:ln>
              <a:latin typeface="Desdemona" pitchFamily="82" charset="7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Framework of the study</a:t>
            </a:r>
            <a:endParaRPr lang="en-US" b="1" dirty="0">
              <a:ln>
                <a:solidFill>
                  <a:schemeClr val="tx1"/>
                </a:solidFill>
              </a:ln>
              <a:latin typeface="Desdemona" pitchFamily="82" charset="77"/>
            </a:endParaRPr>
          </a:p>
        </p:txBody>
      </p:sp>
      <p:pic>
        <p:nvPicPr>
          <p:cNvPr id="6" name="Content Placeholder 5"/>
          <p:cNvPicPr>
            <a:picLocks noChangeAspect="1"/>
          </p:cNvPicPr>
          <p:nvPr>
            <p:ph sz="half" idx="1"/>
          </p:nvPr>
        </p:nvPicPr>
        <p:blipFill>
          <a:blip r:embed="rId1"/>
          <a:stretch>
            <a:fillRect/>
          </a:stretch>
        </p:blipFill>
        <p:spPr>
          <a:xfrm>
            <a:off x="1370965" y="1068070"/>
            <a:ext cx="10155555" cy="471741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26490" y="1356995"/>
            <a:ext cx="10749280" cy="4667250"/>
          </a:xfrm>
        </p:spPr>
        <p:txBody>
          <a:bodyPr>
            <a:noAutofit/>
          </a:bodyPr>
          <a:lstStyle/>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 For local bakery owners, the proposed system provides an organized and efficient tool for managing bakery products, customer pre-orders, inventory levels, and delivery schedules.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For bakery staff and delivery personnel, the system simplifies order handling, preparation scheduling, and delivery tracking through real-time notifications and status updates. </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For customers, the Progressive Web App offers a convenient and user-friendly platform for browsing available bakery products, placing advance orders, and requesting hyper-local delivery using internet-enabled devices.</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 For small business communities, the study supports the digital transformation of local and neighborhood bakeries by providing a cost-effective technology solution tailored to their needs. </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Significance of study</a:t>
            </a:r>
            <a:endParaRPr lang="en-US" b="1" dirty="0">
              <a:ln>
                <a:solidFill>
                  <a:schemeClr val="tx1"/>
                </a:solidFill>
              </a:ln>
              <a:latin typeface="Desdemona" pitchFamily="82"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126490" y="1356995"/>
            <a:ext cx="10749280" cy="4667250"/>
          </a:xfrm>
        </p:spPr>
        <p:txBody>
          <a:bodyPr>
            <a:noAutofit/>
          </a:bodyPr>
          <a:lstStyle/>
          <a:p>
            <a:pPr marL="0" lvl="0" indent="0" algn="just">
              <a:lnSpc>
                <a:spcPct val="100000"/>
              </a:lnSpc>
              <a:spcBef>
                <a:spcPts val="0"/>
              </a:spcBef>
              <a:buNone/>
            </a:pPr>
            <a:r>
              <a:rPr lang="en-US" altLang="en-US" sz="2400" dirty="0">
                <a:effectLst/>
                <a:latin typeface="Tahoma" panose="020B0604030504040204" pitchFamily="34" charset="0"/>
                <a:ea typeface="Tahoma" panose="020B0604030504040204" pitchFamily="34" charset="0"/>
                <a:cs typeface="Tahoma" panose="020B0604030504040204" pitchFamily="34" charset="0"/>
              </a:rPr>
              <a:t>  For future researchers and developers, this study contributes to the body of knowledge on Progressive Web Applications, hyper-local delivery systems, and small-scale e-commerce solutions. </a:t>
            </a:r>
            <a:endParaRPr lang="en-US" altLang="en-US" sz="2400"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Title 1"/>
          <p:cNvSpPr txBox="1"/>
          <p:nvPr/>
        </p:nvSpPr>
        <p:spPr>
          <a:xfrm>
            <a:off x="1271238" y="18524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Significance of study</a:t>
            </a:r>
            <a:endParaRPr lang="en-US" b="1" dirty="0">
              <a:ln>
                <a:solidFill>
                  <a:schemeClr val="tx1"/>
                </a:solidFill>
              </a:ln>
              <a:latin typeface="Desdemona" pitchFamily="82" charset="7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398624" y="1131253"/>
            <a:ext cx="5181600" cy="4351338"/>
          </a:xfrm>
        </p:spPr>
        <p:txBody>
          <a:bodyPr/>
          <a:lstStyle/>
          <a:p>
            <a:r>
              <a:rPr lang="en-US" dirty="0"/>
              <a:t>Research Design</a:t>
            </a:r>
            <a:endParaRPr lang="en-US" dirty="0"/>
          </a:p>
        </p:txBody>
      </p:sp>
      <p:sp>
        <p:nvSpPr>
          <p:cNvPr id="4" name="Content Placeholder 3"/>
          <p:cNvSpPr>
            <a:spLocks noGrp="1"/>
          </p:cNvSpPr>
          <p:nvPr>
            <p:ph sz="half" idx="2"/>
          </p:nvPr>
        </p:nvSpPr>
        <p:spPr>
          <a:xfrm>
            <a:off x="1399540" y="1691005"/>
            <a:ext cx="10238105" cy="4351655"/>
          </a:xfrm>
        </p:spPr>
        <p:txBody>
          <a:bodyPr>
            <a:normAutofit/>
          </a:bodyPr>
          <a:lstStyle/>
          <a:p>
            <a:pPr marL="0" indent="0">
              <a:buNone/>
            </a:pPr>
            <a:r>
              <a:rPr lang="en-US" altLang="en-US" dirty="0"/>
              <a:t>The study uses a descriptive-developmental research design. It describes current bakery practices and identifies existing problems. The developmental approach focuses on building a working system solution. Agile methodology is applied for iterative system development. This allows continuous feedback and improvement. The design ensures the system meets real user needs. It also supports flexibility and efficiency in development.</a:t>
            </a:r>
            <a:endParaRPr lang="en-US" alt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5140325" y="786765"/>
            <a:ext cx="2962910" cy="556895"/>
          </a:xfrm>
        </p:spPr>
        <p:txBody>
          <a:bodyPr/>
          <a:lstStyle/>
          <a:p>
            <a:pPr marL="0" indent="0">
              <a:buNone/>
            </a:pPr>
            <a:r>
              <a:rPr lang="en-US" dirty="0"/>
              <a:t>Study Population</a:t>
            </a:r>
            <a:endParaRPr lang="en-US" dirty="0"/>
          </a:p>
        </p:txBody>
      </p:sp>
      <p:sp>
        <p:nvSpPr>
          <p:cNvPr id="4" name="Content Placeholder 3"/>
          <p:cNvSpPr>
            <a:spLocks noGrp="1"/>
          </p:cNvSpPr>
          <p:nvPr>
            <p:ph sz="half" idx="2"/>
          </p:nvPr>
        </p:nvSpPr>
        <p:spPr>
          <a:xfrm>
            <a:off x="1120775" y="1252855"/>
            <a:ext cx="11002010" cy="4351655"/>
          </a:xfrm>
        </p:spPr>
        <p:txBody>
          <a:bodyPr>
            <a:normAutofit/>
          </a:bodyPr>
          <a:lstStyle/>
          <a:p>
            <a:pPr marL="0" indent="0">
              <a:buNone/>
            </a:pPr>
            <a:r>
              <a:rPr lang="en-US" altLang="en-US" dirty="0"/>
              <a:t>The study involves 30 respondents composed of bakery owners, IT experts, and researchers. Each group provides different insights into system requirements. Bakery owners share operational challenges and needs. IT experts evaluate technical feasibility and system quality. Researchers contribute to analysis and validation. The population ensures balanced perspectives. This supports accurate and relevant system development.</a:t>
            </a:r>
            <a:endParaRPr lang="en-US" altLang="en-US" dirty="0"/>
          </a:p>
        </p:txBody>
      </p:sp>
      <p:sp>
        <p:nvSpPr>
          <p:cNvPr id="5" name="Title 1"/>
          <p:cNvSpPr txBox="1">
            <a:spLocks noGrp="1"/>
          </p:cNvSpPr>
          <p:nvPr>
            <p:ph type="title"/>
          </p:nvPr>
        </p:nvSpPr>
        <p:spPr>
          <a:xfrm>
            <a:off x="1175385" y="-219710"/>
            <a:ext cx="3964940" cy="1325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175760" y="1042670"/>
            <a:ext cx="3840480" cy="487680"/>
          </a:xfrm>
        </p:spPr>
        <p:txBody>
          <a:bodyPr>
            <a:normAutofit fontScale="90000"/>
          </a:bodyPr>
          <a:lstStyle/>
          <a:p>
            <a:pPr marL="0" indent="0">
              <a:buNone/>
            </a:pPr>
            <a:r>
              <a:rPr lang="en-US" dirty="0"/>
              <a:t>Data Collection tools</a:t>
            </a:r>
            <a:endParaRPr lang="en-US" dirty="0"/>
          </a:p>
        </p:txBody>
      </p:sp>
      <p:sp>
        <p:nvSpPr>
          <p:cNvPr id="4" name="Content Placeholder 3"/>
          <p:cNvSpPr>
            <a:spLocks noGrp="1"/>
          </p:cNvSpPr>
          <p:nvPr>
            <p:ph sz="half" idx="2"/>
          </p:nvPr>
        </p:nvSpPr>
        <p:spPr>
          <a:xfrm>
            <a:off x="1118870" y="1343660"/>
            <a:ext cx="10981055" cy="4351655"/>
          </a:xfrm>
        </p:spPr>
        <p:txBody>
          <a:bodyPr>
            <a:normAutofit/>
          </a:bodyPr>
          <a:lstStyle/>
          <a:p>
            <a:pPr marL="0" indent="0">
              <a:buNone/>
            </a:pPr>
            <a:r>
              <a:rPr lang="en-US" altLang="en-US" dirty="0"/>
              <a:t>The study uses structured interview guides with open-ended questions. These tools gather detailed information about current practices. Questions focus on ordering, inventory, and delivery processes. The format allows participants to share real experiences. It ensures rich and relevant qualitative data. The tool is aligned with the study objectives. It supports accurate requirement analysis.</a:t>
            </a:r>
            <a:endParaRPr lang="en-US" alt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060190" y="793750"/>
            <a:ext cx="4507230" cy="549910"/>
          </a:xfrm>
        </p:spPr>
        <p:txBody>
          <a:bodyPr/>
          <a:lstStyle/>
          <a:p>
            <a:pPr marL="0" indent="0">
              <a:buNone/>
            </a:pPr>
            <a:r>
              <a:rPr lang="en-US" dirty="0"/>
              <a:t>Data Gathering Procedures</a:t>
            </a:r>
            <a:endParaRPr lang="en-US" dirty="0"/>
          </a:p>
        </p:txBody>
      </p:sp>
      <p:sp>
        <p:nvSpPr>
          <p:cNvPr id="4" name="Content Placeholder 3"/>
          <p:cNvSpPr>
            <a:spLocks noGrp="1"/>
          </p:cNvSpPr>
          <p:nvPr>
            <p:ph sz="half" idx="2"/>
          </p:nvPr>
        </p:nvSpPr>
        <p:spPr>
          <a:xfrm>
            <a:off x="1201420" y="1252855"/>
            <a:ext cx="10907395" cy="4351655"/>
          </a:xfrm>
        </p:spPr>
        <p:txBody>
          <a:bodyPr>
            <a:normAutofit/>
          </a:bodyPr>
          <a:lstStyle/>
          <a:p>
            <a:pPr marL="0" indent="0">
              <a:buNone/>
            </a:pPr>
            <a:r>
              <a:rPr lang="en-US" altLang="en-US" dirty="0"/>
              <a:t>Data is collected through interviews, observation, and document analysis. Interviews gather firsthand information from participants. Observation examines actual workflows and processes. Document analysis reviews existing records like orders and inventory. These methods provide comprehensive data. The process ensures reliability and completeness. All data supports system design and development.</a:t>
            </a:r>
            <a:endParaRPr lang="en-US" alt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157980" y="971550"/>
            <a:ext cx="3876675" cy="568325"/>
          </a:xfrm>
        </p:spPr>
        <p:txBody>
          <a:bodyPr/>
          <a:lstStyle/>
          <a:p>
            <a:pPr marL="0" indent="0">
              <a:buNone/>
            </a:pPr>
            <a:r>
              <a:rPr lang="en-US" dirty="0"/>
              <a:t>Ethical Considerations</a:t>
            </a:r>
            <a:endParaRPr lang="en-US" dirty="0"/>
          </a:p>
        </p:txBody>
      </p:sp>
      <p:sp>
        <p:nvSpPr>
          <p:cNvPr id="4" name="Content Placeholder 3"/>
          <p:cNvSpPr>
            <a:spLocks noGrp="1"/>
          </p:cNvSpPr>
          <p:nvPr>
            <p:ph sz="half" idx="2"/>
          </p:nvPr>
        </p:nvSpPr>
        <p:spPr>
          <a:xfrm>
            <a:off x="1206500" y="1539875"/>
            <a:ext cx="10431145" cy="4351655"/>
          </a:xfrm>
        </p:spPr>
        <p:txBody>
          <a:bodyPr>
            <a:normAutofit/>
          </a:bodyPr>
          <a:lstStyle/>
          <a:p>
            <a:pPr marL="0" indent="0">
              <a:buNone/>
            </a:pPr>
            <a:r>
              <a:rPr lang="en-US" altLang="en-US" dirty="0"/>
              <a:t>The study follows ethical standards in data collection and system development. Participants provide informed consent before involvement. Personal data is protected under the Data Privacy Act of 2012. Information is used only for research purposes. The system ensures secure data handling and storage. Transparency and confidentiality are maintained. Ethical practices ensure trust and responsibility.</a:t>
            </a:r>
            <a:endParaRPr lang="en-US" altLang="en-US" dirty="0"/>
          </a:p>
        </p:txBody>
      </p:sp>
      <p:sp>
        <p:nvSpPr>
          <p:cNvPr id="5" name="Title 1"/>
          <p:cNvSpPr txBox="1">
            <a:spLocks noGrp="1"/>
          </p:cNvSpPr>
          <p:nvPr>
            <p:ph type="title"/>
          </p:nvPr>
        </p:nvSpPr>
        <p:spPr>
          <a:xfrm>
            <a:off x="1274164" y="1825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548380" y="897255"/>
            <a:ext cx="5962650" cy="789305"/>
          </a:xfrm>
        </p:spPr>
        <p:txBody>
          <a:bodyPr/>
          <a:lstStyle/>
          <a:p>
            <a:pPr marL="0" indent="0">
              <a:buNone/>
            </a:pPr>
            <a:r>
              <a:rPr lang="en-US" dirty="0"/>
              <a:t>Data Analysis Tools and Techniques</a:t>
            </a:r>
            <a:endParaRPr lang="en-US" dirty="0"/>
          </a:p>
        </p:txBody>
      </p:sp>
      <p:sp>
        <p:nvSpPr>
          <p:cNvPr id="4" name="Content Placeholder 3"/>
          <p:cNvSpPr>
            <a:spLocks noGrp="1"/>
          </p:cNvSpPr>
          <p:nvPr>
            <p:ph sz="half" idx="2"/>
          </p:nvPr>
        </p:nvSpPr>
        <p:spPr>
          <a:xfrm>
            <a:off x="1064260" y="1430020"/>
            <a:ext cx="11127740" cy="4351655"/>
          </a:xfrm>
        </p:spPr>
        <p:txBody>
          <a:bodyPr>
            <a:normAutofit/>
          </a:bodyPr>
          <a:lstStyle/>
          <a:p>
            <a:pPr marL="0" indent="0">
              <a:buNone/>
            </a:pPr>
            <a:r>
              <a:rPr lang="en-US" altLang="en-US" dirty="0"/>
              <a:t>The study uses qualitative data analysis. Responses are categorized into themes such as problems and system needs. Patterns and insights are identified from collected data. Findings guide system design and feature development. The analysis ensures alignment with user requirements. It also supports decision-making in development. This approach improves system effectiveness and relevance.</a:t>
            </a:r>
            <a:endParaRPr lang="en-US" altLang="en-US" dirty="0"/>
          </a:p>
        </p:txBody>
      </p:sp>
      <p:sp>
        <p:nvSpPr>
          <p:cNvPr id="5" name="Title 1"/>
          <p:cNvSpPr txBox="1">
            <a:spLocks noGrp="1"/>
          </p:cNvSpPr>
          <p:nvPr>
            <p:ph type="title"/>
          </p:nvPr>
        </p:nvSpPr>
        <p:spPr>
          <a:xfrm>
            <a:off x="1152244" y="-100490"/>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Methodology</a:t>
            </a:r>
            <a:endParaRPr lang="en-US" b="1" dirty="0">
              <a:ln>
                <a:solidFill>
                  <a:schemeClr val="tx1"/>
                </a:solidFill>
              </a:ln>
              <a:latin typeface="Desdemona" pitchFamily="82"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42035" y="365125"/>
            <a:ext cx="10515600" cy="1325563"/>
          </a:xfrm>
        </p:spPr>
        <p:txBody>
          <a:bodyPr/>
          <a:p>
            <a:r>
              <a:rPr lang="en-PH" altLang="en-US"/>
              <a:t>protoype </a:t>
            </a:r>
            <a:endParaRPr lang="en-PH"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noGrp="1"/>
          </p:cNvSpPr>
          <p:nvPr>
            <p:ph type="title"/>
          </p:nvPr>
        </p:nvSpPr>
        <p:spPr>
          <a:xfrm>
            <a:off x="1274164" y="36512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implementation plan</a:t>
            </a:r>
            <a:endParaRPr lang="en-US" b="1" dirty="0">
              <a:ln>
                <a:solidFill>
                  <a:schemeClr val="tx1"/>
                </a:solidFill>
              </a:ln>
              <a:latin typeface="Desdemona" pitchFamily="82" charset="77"/>
            </a:endParaRPr>
          </a:p>
        </p:txBody>
      </p:sp>
      <p:graphicFrame>
        <p:nvGraphicFramePr>
          <p:cNvPr id="6" name="Table 5"/>
          <p:cNvGraphicFramePr/>
          <p:nvPr/>
        </p:nvGraphicFramePr>
        <p:xfrm>
          <a:off x="1400810" y="1264920"/>
          <a:ext cx="10485120" cy="4210685"/>
        </p:xfrm>
        <a:graphic>
          <a:graphicData uri="http://schemas.openxmlformats.org/drawingml/2006/table">
            <a:tbl>
              <a:tblPr/>
              <a:tblGrid>
                <a:gridCol w="3495040"/>
                <a:gridCol w="3495040"/>
                <a:gridCol w="3495040"/>
              </a:tblGrid>
              <a:tr h="351155">
                <a:tc>
                  <a:txBody>
                    <a:bodyPr/>
                    <a:p>
                      <a:r>
                        <a:rPr sz="1500"/>
                        <a:t>Phase</a:t>
                      </a:r>
                      <a:endParaRPr sz="1500"/>
                    </a:p>
                  </a:txBody>
                  <a:tcPr marL="0" marR="0" marT="0" marB="0" anchor="ctr" anchorCtr="0">
                    <a:lnL w="12700">
                      <a:solidFill>
                        <a:schemeClr val="tx1"/>
                      </a:solidFill>
                      <a:prstDash val="solid"/>
                    </a:lnL>
                    <a:lnR>
                      <a:noFill/>
                    </a:lnR>
                    <a:lnT w="12700">
                      <a:solidFill>
                        <a:schemeClr val="tx1"/>
                      </a:solidFill>
                      <a:prstDash val="solid"/>
                    </a:lnT>
                    <a:lnB w="12700">
                      <a:solidFill>
                        <a:schemeClr val="tx1"/>
                      </a:solidFill>
                      <a:prstDash val="solid"/>
                    </a:lnB>
                    <a:noFill/>
                  </a:tcPr>
                </a:tc>
                <a:tc>
                  <a:txBody>
                    <a:bodyPr/>
                    <a:p>
                      <a:r>
                        <a:rPr sz="1500"/>
                        <a:t>Activities</a:t>
                      </a:r>
                      <a:endParaRPr sz="1500"/>
                    </a:p>
                  </a:txBody>
                  <a:tcPr marL="0" marR="0" marT="0" marB="0" anchor="ctr" anchorCtr="0">
                    <a:lnL>
                      <a:noFill/>
                    </a:lnL>
                    <a:lnR>
                      <a:noFill/>
                    </a:lnR>
                    <a:lnT w="12700">
                      <a:solidFill>
                        <a:schemeClr val="tx1"/>
                      </a:solidFill>
                      <a:prstDash val="solid"/>
                    </a:lnT>
                    <a:lnB w="12700">
                      <a:solidFill>
                        <a:schemeClr val="tx1"/>
                      </a:solidFill>
                      <a:prstDash val="solid"/>
                    </a:lnB>
                    <a:noFill/>
                  </a:tcPr>
                </a:tc>
                <a:tc>
                  <a:txBody>
                    <a:bodyPr/>
                    <a:p>
                      <a:r>
                        <a:rPr sz="1500"/>
                        <a:t>Output</a:t>
                      </a:r>
                      <a:endParaRPr sz="1500"/>
                    </a:p>
                  </a:txBody>
                  <a:tcPr marL="0" marR="0" marT="0" marB="0" anchor="ctr" anchorCtr="0">
                    <a:lnL>
                      <a:noFill/>
                    </a:lnL>
                    <a:lnR w="12700">
                      <a:solidFill>
                        <a:schemeClr val="tx1"/>
                      </a:solidFill>
                      <a:prstDash val="solid"/>
                    </a:lnR>
                    <a:lnT w="12700">
                      <a:solidFill>
                        <a:schemeClr val="tx1"/>
                      </a:solidFill>
                      <a:prstDash val="solid"/>
                    </a:lnT>
                    <a:lnB w="12700">
                      <a:solidFill>
                        <a:schemeClr val="tx1"/>
                      </a:solidFill>
                      <a:prstDash val="solid"/>
                    </a:lnB>
                    <a:noFill/>
                  </a:tcPr>
                </a:tc>
              </a:tr>
              <a:tr h="701675">
                <a:tc>
                  <a:txBody>
                    <a:bodyPr/>
                    <a:p>
                      <a:r>
                        <a:rPr sz="1500"/>
                        <a:t>Planning</a:t>
                      </a:r>
                      <a:endParaRPr sz="1500"/>
                    </a:p>
                  </a:txBody>
                  <a:tcPr marL="0" marR="0" marT="0" marB="0" anchor="ctr" anchorCtr="0">
                    <a:lnL>
                      <a:noFill/>
                    </a:lnL>
                    <a:lnR>
                      <a:noFill/>
                    </a:lnR>
                    <a:lnT w="12700">
                      <a:solidFill>
                        <a:schemeClr val="tx1"/>
                      </a:solidFill>
                      <a:prstDash val="solid"/>
                    </a:lnT>
                    <a:lnB>
                      <a:noFill/>
                    </a:lnB>
                    <a:noFill/>
                  </a:tcPr>
                </a:tc>
                <a:tc>
                  <a:txBody>
                    <a:bodyPr/>
                    <a:p>
                      <a:r>
                        <a:rPr sz="1500"/>
                        <a:t>Gather requirements through interviews, observation, and document analysis</a:t>
                      </a:r>
                      <a:endParaRPr sz="1500"/>
                    </a:p>
                  </a:txBody>
                  <a:tcPr marL="0" marR="0" marT="0" marB="0" anchor="ctr" anchorCtr="0">
                    <a:lnL>
                      <a:noFill/>
                    </a:lnL>
                    <a:lnR>
                      <a:noFill/>
                    </a:lnR>
                    <a:lnT w="12700">
                      <a:solidFill>
                        <a:schemeClr val="tx1"/>
                      </a:solidFill>
                      <a:prstDash val="solid"/>
                    </a:lnT>
                    <a:lnB>
                      <a:noFill/>
                    </a:lnB>
                    <a:noFill/>
                  </a:tcPr>
                </a:tc>
                <a:tc>
                  <a:txBody>
                    <a:bodyPr/>
                    <a:p>
                      <a:r>
                        <a:rPr sz="1500"/>
                        <a:t>Defined system requirements</a:t>
                      </a:r>
                      <a:endParaRPr sz="1500"/>
                    </a:p>
                  </a:txBody>
                  <a:tcPr marL="0" marR="0" marT="0" marB="0" anchor="ctr" anchorCtr="0">
                    <a:lnL>
                      <a:noFill/>
                    </a:lnL>
                    <a:lnR>
                      <a:noFill/>
                    </a:lnR>
                    <a:lnT w="12700">
                      <a:solidFill>
                        <a:schemeClr val="tx1"/>
                      </a:solidFill>
                      <a:prstDash val="solid"/>
                    </a:lnT>
                    <a:lnB>
                      <a:noFill/>
                    </a:lnB>
                    <a:noFill/>
                  </a:tcPr>
                </a:tc>
              </a:tr>
              <a:tr h="701675">
                <a:tc>
                  <a:txBody>
                    <a:bodyPr/>
                    <a:p>
                      <a:r>
                        <a:rPr sz="1500"/>
                        <a:t>Design</a:t>
                      </a:r>
                      <a:endParaRPr sz="1500"/>
                    </a:p>
                  </a:txBody>
                  <a:tcPr marL="0" marR="0" marT="0" marB="0" anchor="ctr" anchorCtr="0">
                    <a:lnL>
                      <a:noFill/>
                    </a:lnL>
                    <a:lnR>
                      <a:noFill/>
                    </a:lnR>
                    <a:lnT>
                      <a:noFill/>
                    </a:lnT>
                    <a:lnB>
                      <a:noFill/>
                    </a:lnB>
                    <a:noFill/>
                  </a:tcPr>
                </a:tc>
                <a:tc>
                  <a:txBody>
                    <a:bodyPr/>
                    <a:p>
                      <a:r>
                        <a:rPr sz="1500"/>
                        <a:t>Create system architecture, database design, and user interface layouts</a:t>
                      </a:r>
                      <a:endParaRPr sz="1500"/>
                    </a:p>
                  </a:txBody>
                  <a:tcPr marL="0" marR="0" marT="0" marB="0" anchor="ctr" anchorCtr="0">
                    <a:lnL>
                      <a:noFill/>
                    </a:lnL>
                    <a:lnR>
                      <a:noFill/>
                    </a:lnR>
                    <a:lnT>
                      <a:noFill/>
                    </a:lnT>
                    <a:lnB>
                      <a:noFill/>
                    </a:lnB>
                    <a:noFill/>
                  </a:tcPr>
                </a:tc>
                <a:tc>
                  <a:txBody>
                    <a:bodyPr/>
                    <a:p>
                      <a:r>
                        <a:rPr sz="1500"/>
                        <a:t>System design and prototypes</a:t>
                      </a:r>
                      <a:endParaRPr sz="1500"/>
                    </a:p>
                  </a:txBody>
                  <a:tcPr marL="0" marR="0" marT="0" marB="0" anchor="ctr" anchorCtr="0">
                    <a:lnL>
                      <a:noFill/>
                    </a:lnL>
                    <a:lnR>
                      <a:noFill/>
                    </a:lnR>
                    <a:lnT>
                      <a:noFill/>
                    </a:lnT>
                    <a:lnB>
                      <a:noFill/>
                    </a:lnB>
                    <a:noFill/>
                  </a:tcPr>
                </a:tc>
              </a:tr>
              <a:tr h="701675">
                <a:tc>
                  <a:txBody>
                    <a:bodyPr/>
                    <a:p>
                      <a:r>
                        <a:rPr sz="1500"/>
                        <a:t>Development</a:t>
                      </a:r>
                      <a:endParaRPr sz="1500"/>
                    </a:p>
                  </a:txBody>
                  <a:tcPr marL="0" marR="0" marT="0" marB="0" anchor="ctr" anchorCtr="0">
                    <a:lnL>
                      <a:noFill/>
                    </a:lnL>
                    <a:lnR>
                      <a:noFill/>
                    </a:lnR>
                    <a:lnT>
                      <a:noFill/>
                    </a:lnT>
                    <a:lnB>
                      <a:noFill/>
                    </a:lnB>
                    <a:noFill/>
                  </a:tcPr>
                </a:tc>
                <a:tc>
                  <a:txBody>
                    <a:bodyPr/>
                    <a:p>
                      <a:r>
                        <a:rPr sz="1500"/>
                        <a:t>Build the PWA with features (ordering, inventory, delivery, notifications)</a:t>
                      </a:r>
                      <a:endParaRPr sz="1500"/>
                    </a:p>
                  </a:txBody>
                  <a:tcPr marL="0" marR="0" marT="0" marB="0" anchor="ctr" anchorCtr="0">
                    <a:lnL>
                      <a:noFill/>
                    </a:lnL>
                    <a:lnR>
                      <a:noFill/>
                    </a:lnR>
                    <a:lnT>
                      <a:noFill/>
                    </a:lnT>
                    <a:lnB>
                      <a:noFill/>
                    </a:lnB>
                    <a:noFill/>
                  </a:tcPr>
                </a:tc>
                <a:tc>
                  <a:txBody>
                    <a:bodyPr/>
                    <a:p>
                      <a:r>
                        <a:rPr sz="1500"/>
                        <a:t>Functional system modules</a:t>
                      </a:r>
                      <a:endParaRPr sz="1500"/>
                    </a:p>
                  </a:txBody>
                  <a:tcPr marL="0" marR="0" marT="0" marB="0" anchor="ctr" anchorCtr="0">
                    <a:lnL>
                      <a:noFill/>
                    </a:lnL>
                    <a:lnR>
                      <a:noFill/>
                    </a:lnR>
                    <a:lnT>
                      <a:noFill/>
                    </a:lnT>
                    <a:lnB>
                      <a:noFill/>
                    </a:lnB>
                    <a:noFill/>
                  </a:tcPr>
                </a:tc>
              </a:tr>
              <a:tr h="351155">
                <a:tc>
                  <a:txBody>
                    <a:bodyPr/>
                    <a:p>
                      <a:r>
                        <a:rPr sz="1500"/>
                        <a:t>Testing</a:t>
                      </a:r>
                      <a:endParaRPr sz="1500"/>
                    </a:p>
                  </a:txBody>
                  <a:tcPr marL="0" marR="0" marT="0" marB="0" anchor="ctr" anchorCtr="0">
                    <a:lnL>
                      <a:noFill/>
                    </a:lnL>
                    <a:lnR>
                      <a:noFill/>
                    </a:lnR>
                    <a:lnT>
                      <a:noFill/>
                    </a:lnT>
                    <a:lnB>
                      <a:noFill/>
                    </a:lnB>
                    <a:noFill/>
                  </a:tcPr>
                </a:tc>
                <a:tc>
                  <a:txBody>
                    <a:bodyPr/>
                    <a:p>
                      <a:r>
                        <a:rPr sz="1500"/>
                        <a:t>Conduct usability and functionality testing, fix errors</a:t>
                      </a:r>
                      <a:endParaRPr sz="1500"/>
                    </a:p>
                  </a:txBody>
                  <a:tcPr marL="0" marR="0" marT="0" marB="0" anchor="ctr" anchorCtr="0">
                    <a:lnL>
                      <a:noFill/>
                    </a:lnL>
                    <a:lnR>
                      <a:noFill/>
                    </a:lnR>
                    <a:lnT>
                      <a:noFill/>
                    </a:lnT>
                    <a:lnB>
                      <a:noFill/>
                    </a:lnB>
                    <a:noFill/>
                  </a:tcPr>
                </a:tc>
                <a:tc>
                  <a:txBody>
                    <a:bodyPr/>
                    <a:p>
                      <a:r>
                        <a:rPr sz="1500"/>
                        <a:t>Tested and improved system</a:t>
                      </a:r>
                      <a:endParaRPr sz="1500"/>
                    </a:p>
                  </a:txBody>
                  <a:tcPr marL="0" marR="0" marT="0" marB="0" anchor="ctr" anchorCtr="0">
                    <a:lnL>
                      <a:noFill/>
                    </a:lnL>
                    <a:lnR>
                      <a:noFill/>
                    </a:lnR>
                    <a:lnT>
                      <a:noFill/>
                    </a:lnT>
                    <a:lnB>
                      <a:noFill/>
                    </a:lnB>
                    <a:noFill/>
                  </a:tcPr>
                </a:tc>
              </a:tr>
              <a:tr h="701040">
                <a:tc>
                  <a:txBody>
                    <a:bodyPr/>
                    <a:p>
                      <a:r>
                        <a:rPr sz="1500"/>
                        <a:t>Deployment</a:t>
                      </a:r>
                      <a:endParaRPr sz="1500"/>
                    </a:p>
                  </a:txBody>
                  <a:tcPr marL="0" marR="0" marT="0" marB="0" anchor="ctr" anchorCtr="0">
                    <a:lnL>
                      <a:noFill/>
                    </a:lnL>
                    <a:lnR>
                      <a:noFill/>
                    </a:lnR>
                    <a:lnT>
                      <a:noFill/>
                    </a:lnT>
                    <a:lnB>
                      <a:noFill/>
                    </a:lnB>
                    <a:noFill/>
                  </a:tcPr>
                </a:tc>
                <a:tc>
                  <a:txBody>
                    <a:bodyPr/>
                    <a:p>
                      <a:r>
                        <a:rPr sz="1500"/>
                        <a:t>Launch the system and provide user training and documentation</a:t>
                      </a:r>
                      <a:endParaRPr sz="1500"/>
                    </a:p>
                  </a:txBody>
                  <a:tcPr marL="0" marR="0" marT="0" marB="0" anchor="ctr" anchorCtr="0">
                    <a:lnL>
                      <a:noFill/>
                    </a:lnL>
                    <a:lnR>
                      <a:noFill/>
                    </a:lnR>
                    <a:lnT>
                      <a:noFill/>
                    </a:lnT>
                    <a:lnB>
                      <a:noFill/>
                    </a:lnB>
                    <a:noFill/>
                  </a:tcPr>
                </a:tc>
                <a:tc>
                  <a:txBody>
                    <a:bodyPr/>
                    <a:p>
                      <a:r>
                        <a:rPr sz="1500"/>
                        <a:t>Operational system ready for use</a:t>
                      </a:r>
                      <a:endParaRPr sz="1500"/>
                    </a:p>
                  </a:txBody>
                  <a:tcPr marL="0" marR="0" marT="0" marB="0" anchor="ctr" anchorCtr="0">
                    <a:lnL>
                      <a:noFill/>
                    </a:lnL>
                    <a:lnR>
                      <a:noFill/>
                    </a:lnR>
                    <a:lnT>
                      <a:noFill/>
                    </a:lnT>
                    <a:lnB>
                      <a:noFill/>
                    </a:lnB>
                    <a:noFill/>
                  </a:tcPr>
                </a:tc>
              </a:tr>
              <a:tr h="702310">
                <a:tc>
                  <a:txBody>
                    <a:bodyPr/>
                    <a:p>
                      <a:r>
                        <a:rPr sz="1500"/>
                        <a:t>Monitoring &amp; Feedback</a:t>
                      </a:r>
                      <a:endParaRPr sz="1500"/>
                    </a:p>
                  </a:txBody>
                  <a:tcPr marL="0" marR="0" marT="0" marB="0" anchor="ctr" anchorCtr="0">
                    <a:lnL>
                      <a:noFill/>
                    </a:lnL>
                    <a:lnR>
                      <a:noFill/>
                    </a:lnR>
                    <a:lnT>
                      <a:noFill/>
                    </a:lnT>
                    <a:lnB w="12700">
                      <a:solidFill>
                        <a:schemeClr val="tx1"/>
                      </a:solidFill>
                      <a:prstDash val="solid"/>
                    </a:lnB>
                    <a:noFill/>
                  </a:tcPr>
                </a:tc>
                <a:tc>
                  <a:txBody>
                    <a:bodyPr/>
                    <a:p>
                      <a:r>
                        <a:rPr sz="1500"/>
                        <a:t>Collect user feedback and monitor performance for improvements</a:t>
                      </a:r>
                      <a:endParaRPr sz="1500"/>
                    </a:p>
                  </a:txBody>
                  <a:tcPr marL="0" marR="0" marT="0" marB="0" anchor="ctr" anchorCtr="0">
                    <a:lnL>
                      <a:noFill/>
                    </a:lnL>
                    <a:lnR>
                      <a:noFill/>
                    </a:lnR>
                    <a:lnT>
                      <a:noFill/>
                    </a:lnT>
                    <a:lnB w="12700">
                      <a:solidFill>
                        <a:schemeClr val="tx1"/>
                      </a:solidFill>
                      <a:prstDash val="solid"/>
                    </a:lnB>
                    <a:noFill/>
                  </a:tcPr>
                </a:tc>
                <a:tc>
                  <a:txBody>
                    <a:bodyPr/>
                    <a:p>
                      <a:r>
                        <a:rPr sz="1500"/>
                        <a:t>Enhanced and updated system</a:t>
                      </a:r>
                      <a:endParaRPr sz="1500"/>
                    </a:p>
                  </a:txBody>
                  <a:tcPr marL="0" marR="0" marT="0" marB="0" anchor="ctr" anchorCtr="0">
                    <a:lnL>
                      <a:noFill/>
                    </a:lnL>
                    <a:lnR>
                      <a:noFill/>
                    </a:lnR>
                    <a:lnT>
                      <a:noFill/>
                    </a:lnT>
                    <a:lnB w="12700">
                      <a:solidFill>
                        <a:schemeClr val="tx1"/>
                      </a:solidFill>
                      <a:prstDash val="solid"/>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274445" y="1825625"/>
            <a:ext cx="10429240" cy="4351655"/>
          </a:xfrm>
        </p:spPr>
        <p:txBody>
          <a:bodyPr>
            <a:normAutofit fontScale="85000"/>
          </a:bodyPr>
          <a:lstStyle/>
          <a:p>
            <a:pPr marL="0" indent="0">
              <a:buNone/>
            </a:pPr>
            <a:endParaRPr lang="en-US" altLang="en-US"/>
          </a:p>
          <a:p>
            <a:pPr marL="0" indent="0">
              <a:buNone/>
            </a:pPr>
            <a:r>
              <a:rPr lang="en-US" altLang="en-US"/>
              <a:t>Marchetto, T., &amp; Morandini, M. (2024). User perceptions of progressive web app features. Lecture Notes in Networks and Systems. Springer.</a:t>
            </a:r>
            <a:endParaRPr lang="en-US" altLang="en-US"/>
          </a:p>
          <a:p>
            <a:pPr marL="0" indent="0">
              <a:buNone/>
            </a:pPr>
            <a:r>
              <a:rPr lang="en-US" altLang="en-US"/>
              <a:t>Murphy, J. (2024). User engagement and loyalty in mobile restaurant delivery apps. Heliyon, 10(7), e28289.</a:t>
            </a:r>
            <a:endParaRPr lang="en-US" altLang="en-US"/>
          </a:p>
          <a:p>
            <a:pPr marL="0" indent="0">
              <a:buNone/>
            </a:pPr>
            <a:r>
              <a:rPr lang="en-US" altLang="en-US"/>
              <a:t>Niño, A. G., &amp; Salas, R. (2024). Digital pre-order platforms and business performance in local bakeries in Iloilo City. (Unpublished manuscript).</a:t>
            </a:r>
            <a:endParaRPr lang="en-US" altLang="en-US"/>
          </a:p>
          <a:p>
            <a:pPr marL="0" indent="0">
              <a:buNone/>
            </a:pPr>
            <a:r>
              <a:rPr lang="en-US" altLang="en-US"/>
              <a:t>Ramos, M. F. (2023). Mobile commerce adoption among MSMEs in Luzon. Philippine E-Commerce Review, 5(2), 102–118.</a:t>
            </a:r>
            <a:endParaRPr lang="en-US" altLang="en-US"/>
          </a:p>
        </p:txBody>
      </p:sp>
      <p:sp>
        <p:nvSpPr>
          <p:cNvPr id="5" name="Title 1"/>
          <p:cNvSpPr txBox="1">
            <a:spLocks noGrp="1"/>
          </p:cNvSpPr>
          <p:nvPr>
            <p:ph type="title"/>
          </p:nvPr>
        </p:nvSpPr>
        <p:spPr>
          <a:xfrm>
            <a:off x="1274164" y="365125"/>
            <a:ext cx="10079636"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n>
                  <a:solidFill>
                    <a:schemeClr val="tx1"/>
                  </a:solidFill>
                </a:ln>
                <a:latin typeface="Desdemona" pitchFamily="82" charset="77"/>
              </a:rPr>
              <a:t>Literature cited</a:t>
            </a:r>
            <a:endParaRPr lang="en-US" b="1" dirty="0">
              <a:ln>
                <a:solidFill>
                  <a:schemeClr val="tx1"/>
                </a:solidFill>
              </a:ln>
              <a:latin typeface="Desdemona" pitchFamily="8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6874</Words>
  <Application>WPS Presentation</Application>
  <PresentationFormat>Widescreen</PresentationFormat>
  <Paragraphs>153</Paragraphs>
  <Slides>16</Slides>
  <Notes>0</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16</vt:i4>
      </vt:variant>
    </vt:vector>
  </HeadingPairs>
  <TitlesOfParts>
    <vt:vector size="34" baseType="lpstr">
      <vt:lpstr>Arial</vt:lpstr>
      <vt:lpstr>SimSun</vt:lpstr>
      <vt:lpstr>Wingdings</vt:lpstr>
      <vt:lpstr>Tahoma</vt:lpstr>
      <vt:lpstr>Trajan Pro</vt:lpstr>
      <vt:lpstr>PMingLiU-ExtB</vt:lpstr>
      <vt:lpstr>Times New Roman</vt:lpstr>
      <vt:lpstr>Desdemona</vt:lpstr>
      <vt:lpstr>Segoe Print</vt:lpstr>
      <vt:lpstr>Aptos Display</vt:lpstr>
      <vt:lpstr>Segoe UI Variable Display</vt:lpstr>
      <vt:lpstr>Microsoft YaHei</vt:lpstr>
      <vt:lpstr>Arial Unicode MS</vt:lpstr>
      <vt:lpstr>Aptos</vt:lpstr>
      <vt:lpstr>Segoe UI</vt:lpstr>
      <vt:lpstr>Calibri</vt:lpstr>
      <vt:lpstr>Office Theme</vt:lpstr>
      <vt:lpstr>1_Office Theme</vt:lpstr>
      <vt:lpstr>“Tres marias: Developing a Progressive Web App (PWA) for Hyper-Local Bakery Delivery and Pre-orders”</vt:lpstr>
      <vt:lpstr>Rationale</vt:lpstr>
      <vt:lpstr>Rationale</vt:lpstr>
      <vt:lpstr>PowerPoint 演示文稿</vt:lpstr>
      <vt:lpstr>PowerPoint 演示文稿</vt:lpstr>
      <vt:lpstr>PowerPoint 演示文稿</vt:lpstr>
      <vt:lpstr>PowerPoint 演示文稿</vt:lpstr>
      <vt:lpstr>Methodology</vt:lpstr>
      <vt:lpstr>Methodology</vt:lpstr>
      <vt:lpstr>Methodology</vt:lpstr>
      <vt:lpstr>Methodology</vt:lpstr>
      <vt:lpstr>Methodology</vt:lpstr>
      <vt:lpstr>Methodology</vt:lpstr>
      <vt:lpstr>protoype </vt:lpstr>
      <vt:lpstr>implementation plan</vt:lpstr>
      <vt:lpstr>Literature cited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Billy Javier</dc:creator>
  <cp:lastModifiedBy>Cj Agustin</cp:lastModifiedBy>
  <cp:revision>8</cp:revision>
  <dcterms:created xsi:type="dcterms:W3CDTF">2024-12-03T05:11:00Z</dcterms:created>
  <dcterms:modified xsi:type="dcterms:W3CDTF">2026-04-05T07:48:01Z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8192F72045A64575BFDEE4930249E47B_12</vt:lpwstr>
  </property>
</Properties>
</file>